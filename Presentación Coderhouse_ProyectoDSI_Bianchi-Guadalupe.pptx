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CB5E96-2734-4A75-B073-D98C2D315996}" v="87" dt="2026-03-03T00:07:11.6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40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9957534" cy="15388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600" b="1" dirty="0">
                <a:solidFill>
                  <a:srgbClr val="1A3C5A"/>
                </a:solidFill>
                <a:latin typeface="Segoe UI"/>
              </a:rPr>
              <a:t>El Poder del </a:t>
            </a:r>
            <a:r>
              <a:rPr sz="4600" b="1" dirty="0" err="1">
                <a:solidFill>
                  <a:srgbClr val="1A3C5A"/>
                </a:solidFill>
                <a:latin typeface="Segoe UI"/>
              </a:rPr>
              <a:t>Sueño</a:t>
            </a:r>
            <a:r>
              <a:rPr sz="4600" b="1" dirty="0">
                <a:solidFill>
                  <a:srgbClr val="1A3C5A"/>
                </a:solidFill>
                <a:latin typeface="Segoe UI"/>
              </a:rPr>
              <a:t>: </a:t>
            </a:r>
            <a:endParaRPr lang="es-AR" sz="4600" b="1" dirty="0">
              <a:solidFill>
                <a:srgbClr val="1A3C5A"/>
              </a:solidFill>
              <a:latin typeface="Segoe UI"/>
            </a:endParaRPr>
          </a:p>
          <a:p>
            <a:pPr algn="l"/>
            <a:r>
              <a:rPr sz="4800" b="1" dirty="0">
                <a:solidFill>
                  <a:srgbClr val="1A3C5A"/>
                </a:solidFill>
                <a:latin typeface="Segoe UI"/>
              </a:rPr>
              <a:t>Cómo </a:t>
            </a:r>
            <a:r>
              <a:rPr sz="4800" b="1" dirty="0" err="1">
                <a:solidFill>
                  <a:srgbClr val="1A3C5A"/>
                </a:solidFill>
                <a:latin typeface="Segoe UI"/>
              </a:rPr>
              <a:t>Dormir</a:t>
            </a:r>
            <a:r>
              <a:rPr sz="4800" b="1" dirty="0">
                <a:solidFill>
                  <a:srgbClr val="1A3C5A"/>
                </a:solidFill>
                <a:latin typeface="Segoe UI"/>
              </a:rPr>
              <a:t> Mejor Cambia Todo</a:t>
            </a:r>
            <a:endParaRPr sz="4600" b="1" dirty="0">
              <a:solidFill>
                <a:srgbClr val="1A3C5A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2327" y="2578608"/>
            <a:ext cx="44089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dirty="0" err="1">
                <a:solidFill>
                  <a:srgbClr val="555555"/>
                </a:solidFill>
                <a:latin typeface="Calibri"/>
              </a:rPr>
              <a:t>Análisis</a:t>
            </a:r>
            <a:r>
              <a:rPr sz="1800" dirty="0">
                <a:solidFill>
                  <a:srgbClr val="555555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555555"/>
                </a:solidFill>
                <a:latin typeface="Calibri"/>
              </a:rPr>
              <a:t>exploratorio</a:t>
            </a:r>
            <a:r>
              <a:rPr sz="1800" dirty="0">
                <a:solidFill>
                  <a:srgbClr val="555555"/>
                </a:solidFill>
                <a:latin typeface="Calibri"/>
              </a:rPr>
              <a:t> de </a:t>
            </a:r>
            <a:r>
              <a:rPr sz="1800" dirty="0" err="1">
                <a:solidFill>
                  <a:srgbClr val="555555"/>
                </a:solidFill>
                <a:latin typeface="Calibri"/>
              </a:rPr>
              <a:t>duración</a:t>
            </a:r>
            <a:r>
              <a:rPr sz="1800" dirty="0">
                <a:solidFill>
                  <a:srgbClr val="555555"/>
                </a:solidFill>
                <a:latin typeface="Calibri"/>
              </a:rPr>
              <a:t>, </a:t>
            </a:r>
            <a:r>
              <a:rPr sz="1800" dirty="0" err="1">
                <a:solidFill>
                  <a:srgbClr val="555555"/>
                </a:solidFill>
                <a:latin typeface="Calibri"/>
              </a:rPr>
              <a:t>calidad</a:t>
            </a:r>
            <a:r>
              <a:rPr sz="1800" dirty="0">
                <a:solidFill>
                  <a:srgbClr val="555555"/>
                </a:solidFill>
                <a:latin typeface="Calibri"/>
              </a:rPr>
              <a:t>, </a:t>
            </a:r>
            <a:r>
              <a:rPr sz="1800" dirty="0" err="1">
                <a:solidFill>
                  <a:srgbClr val="555555"/>
                </a:solidFill>
                <a:latin typeface="Calibri"/>
              </a:rPr>
              <a:t>estrés</a:t>
            </a:r>
            <a:r>
              <a:rPr sz="1800" dirty="0">
                <a:solidFill>
                  <a:srgbClr val="555555"/>
                </a:solidFill>
                <a:latin typeface="Calibri"/>
              </a:rPr>
              <a:t> y </a:t>
            </a:r>
            <a:r>
              <a:rPr sz="1800" dirty="0" err="1">
                <a:solidFill>
                  <a:srgbClr val="555555"/>
                </a:solidFill>
                <a:latin typeface="Calibri"/>
              </a:rPr>
              <a:t>actividad</a:t>
            </a:r>
            <a:r>
              <a:rPr sz="1800" dirty="0">
                <a:solidFill>
                  <a:srgbClr val="555555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555555"/>
                </a:solidFill>
                <a:latin typeface="Calibri"/>
              </a:rPr>
              <a:t>física</a:t>
            </a:r>
            <a:endParaRPr sz="180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5160347"/>
            <a:ext cx="106070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3C5A"/>
                </a:solidFill>
                <a:latin typeface="Calibri"/>
              </a:defRPr>
            </a:pPr>
            <a:r>
              <a:rPr dirty="0"/>
              <a:t>Guada</a:t>
            </a:r>
            <a:r>
              <a:rPr lang="es-AR" dirty="0" err="1"/>
              <a:t>lupe</a:t>
            </a:r>
            <a:r>
              <a:rPr dirty="0"/>
              <a:t> Bianchi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  <a:latin typeface="Calibri"/>
              </a:defRPr>
            </a:pPr>
            <a:r>
              <a:rPr lang="es-AR" dirty="0" err="1"/>
              <a:t>DataScience</a:t>
            </a:r>
            <a:r>
              <a:rPr lang="es-AR" dirty="0"/>
              <a:t> II</a:t>
            </a:r>
            <a:r>
              <a:rPr dirty="0"/>
              <a:t> </a:t>
            </a:r>
            <a:r>
              <a:rPr lang="es-AR" dirty="0"/>
              <a:t>- </a:t>
            </a:r>
            <a:r>
              <a:rPr lang="en-GB" sz="1400" dirty="0"/>
              <a:t>Comisión 77745 </a:t>
            </a:r>
            <a:r>
              <a:rPr dirty="0"/>
              <a:t>- </a:t>
            </a:r>
            <a:r>
              <a:rPr dirty="0" err="1"/>
              <a:t>Entrega</a:t>
            </a:r>
            <a:r>
              <a:rPr dirty="0"/>
              <a:t> 1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  <a:latin typeface="Calibri"/>
              </a:defRPr>
            </a:pPr>
            <a:r>
              <a:rPr dirty="0" err="1"/>
              <a:t>Fecha</a:t>
            </a:r>
            <a:r>
              <a:rPr dirty="0"/>
              <a:t>: 02/03/2026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9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dirty="0">
                <a:solidFill>
                  <a:srgbClr val="AAAAAA"/>
                </a:solidFill>
                <a:latin typeface="Calibri"/>
              </a:rPr>
              <a:t>Data Science | </a:t>
            </a:r>
            <a:r>
              <a:rPr sz="1000" dirty="0" err="1">
                <a:solidFill>
                  <a:srgbClr val="AAAAAA"/>
                </a:solidFill>
                <a:latin typeface="Calibri"/>
              </a:rPr>
              <a:t>Coderhouse</a:t>
            </a:r>
            <a:endParaRPr sz="1000" dirty="0">
              <a:solidFill>
                <a:srgbClr val="AAAAAA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  <a:latin typeface="Calibri"/>
              </a:rPr>
              <a:t>1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BA2AAEB9-8B86-DFF2-4F85-71BE3E645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358" y="2651760"/>
            <a:ext cx="6196682" cy="3485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68580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A3C5A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defRPr sz="2400" b="1">
                <a:solidFill>
                  <a:srgbClr val="1A3C5A"/>
                </a:solidFill>
                <a:latin typeface="Segoe UI"/>
              </a:defRPr>
            </a:pPr>
            <a:r>
              <a:t>01 | Contexto y Audiencia</a:t>
            </a: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defRPr sz="2400" b="1">
                <a:solidFill>
                  <a:srgbClr val="1A3C5A"/>
                </a:solidFill>
                <a:latin typeface="Segoe UI"/>
              </a:defRPr>
            </a:pPr>
            <a:r>
              <a:t>02 | Preguntas e Hipótesis de Interés</a:t>
            </a: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defRPr sz="2400" b="1">
                <a:solidFill>
                  <a:srgbClr val="1A3C5A"/>
                </a:solidFill>
                <a:latin typeface="Segoe UI"/>
              </a:defRPr>
            </a:pPr>
            <a:r>
              <a:t>03 | Metadata</a:t>
            </a: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defRPr sz="2400" b="1">
                <a:solidFill>
                  <a:srgbClr val="1A3C5A"/>
                </a:solidFill>
                <a:latin typeface="Segoe UI"/>
              </a:defRPr>
            </a:pPr>
            <a:r>
              <a:t>04 | Análisis Exploratorio</a:t>
            </a: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defRPr sz="2400" b="1">
                <a:solidFill>
                  <a:srgbClr val="1A3C5A"/>
                </a:solidFill>
                <a:latin typeface="Segoe UI"/>
              </a:defRPr>
            </a:pPr>
            <a:r>
              <a:t>05 | Insights y Recomendaciones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419088"/>
            <a:ext cx="10607040" cy="9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Calibri"/>
              </a:rPr>
              <a:t>Data Science | Coderhouse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  <a:latin typeface="Calibri"/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A7C8FD-B85A-20D0-179D-55EDCA8BC4EC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A3C5A"/>
                </a:solidFill>
                <a:latin typeface="Segoe UI"/>
              </a:rPr>
              <a:t>CONTEXTO Y AUDIENCIA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5577840" cy="346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 dirty="0" err="1">
                <a:solidFill>
                  <a:srgbClr val="1A3C5A"/>
                </a:solidFill>
                <a:latin typeface="Segoe UI"/>
              </a:rPr>
              <a:t>Contexto</a:t>
            </a:r>
            <a:endParaRPr sz="2000" b="1" dirty="0">
              <a:solidFill>
                <a:srgbClr val="1A3C5A"/>
              </a:solidFill>
              <a:latin typeface="Segoe UI"/>
            </a:endParaRPr>
          </a:p>
          <a:p>
            <a:pPr>
              <a:spcAft>
                <a:spcPts val="1800"/>
              </a:spcAft>
              <a:defRPr sz="1800">
                <a:solidFill>
                  <a:srgbClr val="555555"/>
                </a:solidFill>
                <a:latin typeface="Calibri"/>
              </a:defRPr>
            </a:pPr>
            <a:r>
              <a:rPr lang="es-ES" dirty="0"/>
              <a:t>El sueño es un pilar fundamental de la salud humana, influyendo en el bienestar físico, mental y emocional</a:t>
            </a:r>
            <a:r>
              <a:rPr dirty="0"/>
              <a:t>. Este </a:t>
            </a:r>
            <a:r>
              <a:rPr dirty="0" err="1"/>
              <a:t>análisis</a:t>
            </a:r>
            <a:r>
              <a:rPr dirty="0"/>
              <a:t> </a:t>
            </a:r>
            <a:r>
              <a:rPr dirty="0" err="1"/>
              <a:t>examina</a:t>
            </a:r>
            <a:r>
              <a:rPr dirty="0"/>
              <a:t> </a:t>
            </a:r>
            <a:r>
              <a:rPr dirty="0" err="1"/>
              <a:t>cómo</a:t>
            </a:r>
            <a:r>
              <a:rPr dirty="0"/>
              <a:t> la </a:t>
            </a:r>
            <a:r>
              <a:rPr dirty="0" err="1"/>
              <a:t>duración</a:t>
            </a:r>
            <a:r>
              <a:rPr dirty="0"/>
              <a:t> y </a:t>
            </a:r>
            <a:r>
              <a:rPr dirty="0" err="1"/>
              <a:t>calidad</a:t>
            </a:r>
            <a:r>
              <a:rPr dirty="0"/>
              <a:t> del </a:t>
            </a:r>
            <a:r>
              <a:rPr dirty="0" err="1"/>
              <a:t>sueño</a:t>
            </a:r>
            <a:r>
              <a:rPr dirty="0"/>
              <a:t> </a:t>
            </a:r>
            <a:r>
              <a:rPr dirty="0" err="1"/>
              <a:t>influyen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estrés</a:t>
            </a:r>
            <a:r>
              <a:rPr dirty="0"/>
              <a:t> y la </a:t>
            </a:r>
            <a:r>
              <a:rPr dirty="0" err="1"/>
              <a:t>salud</a:t>
            </a:r>
            <a:r>
              <a:rPr dirty="0"/>
              <a:t> general, </a:t>
            </a:r>
            <a:r>
              <a:rPr dirty="0" err="1"/>
              <a:t>utilizando</a:t>
            </a:r>
            <a:r>
              <a:rPr dirty="0"/>
              <a:t>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públicos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2000" b="1">
                <a:solidFill>
                  <a:srgbClr val="1A3C5A"/>
                </a:solidFill>
                <a:latin typeface="Segoe UI"/>
              </a:defRPr>
            </a:pPr>
            <a:r>
              <a:rPr dirty="0" err="1"/>
              <a:t>Limitaciones</a:t>
            </a:r>
            <a:endParaRPr dirty="0"/>
          </a:p>
          <a:p>
            <a:pPr>
              <a:spcBef>
                <a:spcPts val="600"/>
              </a:spcBef>
              <a:defRPr sz="1800">
                <a:solidFill>
                  <a:srgbClr val="555555"/>
                </a:solidFill>
                <a:latin typeface="Calibri"/>
              </a:defRPr>
            </a:pPr>
            <a:r>
              <a:rPr dirty="0"/>
              <a:t>Dataset de 374 </a:t>
            </a:r>
            <a:r>
              <a:rPr dirty="0" err="1"/>
              <a:t>registros</a:t>
            </a:r>
            <a:r>
              <a:rPr dirty="0"/>
              <a:t> (</a:t>
            </a:r>
            <a:r>
              <a:rPr dirty="0" err="1"/>
              <a:t>muestra</a:t>
            </a:r>
            <a:r>
              <a:rPr dirty="0"/>
              <a:t> </a:t>
            </a:r>
            <a:r>
              <a:rPr dirty="0" err="1"/>
              <a:t>específica</a:t>
            </a:r>
            <a:r>
              <a:rPr dirty="0"/>
              <a:t>).</a:t>
            </a:r>
          </a:p>
          <a:p>
            <a:pPr>
              <a:spcBef>
                <a:spcPts val="600"/>
              </a:spcBef>
              <a:defRPr sz="1800">
                <a:solidFill>
                  <a:srgbClr val="555555"/>
                </a:solidFill>
                <a:latin typeface="Calibri"/>
              </a:defRPr>
            </a:pPr>
            <a:r>
              <a:rPr dirty="0" err="1"/>
              <a:t>Enriquecido</a:t>
            </a:r>
            <a:r>
              <a:rPr dirty="0"/>
              <a:t> con </a:t>
            </a:r>
            <a:r>
              <a:rPr dirty="0" err="1"/>
              <a:t>estándares</a:t>
            </a:r>
            <a:r>
              <a:rPr dirty="0"/>
              <a:t> </a:t>
            </a:r>
            <a:r>
              <a:rPr lang="es-AR" dirty="0"/>
              <a:t>de la </a:t>
            </a:r>
            <a:r>
              <a:rPr dirty="0"/>
              <a:t>OMS</a:t>
            </a:r>
            <a:r>
              <a:rPr lang="es-AR" dirty="0"/>
              <a:t> (</a:t>
            </a:r>
            <a:r>
              <a:rPr lang="es-AR" i="1" dirty="0"/>
              <a:t>Organización Mundial de la Salud</a:t>
            </a:r>
            <a:r>
              <a:rPr lang="es-AR" dirty="0"/>
              <a:t>)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1417320"/>
            <a:ext cx="4754880" cy="1944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 dirty="0">
                <a:solidFill>
                  <a:srgbClr val="1A3C5A"/>
                </a:solidFill>
                <a:latin typeface="Segoe UI"/>
              </a:rPr>
              <a:t>Audiencia</a:t>
            </a:r>
          </a:p>
          <a:p>
            <a:pPr marL="285750" indent="-285750">
              <a:spcBef>
                <a:spcPts val="800"/>
              </a:spcBef>
              <a:buFont typeface="Courier New" panose="02070309020205020404" pitchFamily="49" charset="0"/>
              <a:buChar char="o"/>
              <a:defRPr sz="1800">
                <a:solidFill>
                  <a:srgbClr val="555555"/>
                </a:solidFill>
                <a:latin typeface="Calibri"/>
              </a:defRPr>
            </a:pPr>
            <a:r>
              <a:rPr dirty="0" err="1"/>
              <a:t>Profesionales</a:t>
            </a:r>
            <a:r>
              <a:rPr dirty="0"/>
              <a:t> de la </a:t>
            </a:r>
            <a:r>
              <a:rPr dirty="0" err="1"/>
              <a:t>salud</a:t>
            </a:r>
            <a:endParaRPr dirty="0"/>
          </a:p>
          <a:p>
            <a:pPr marL="285750" indent="-285750">
              <a:spcBef>
                <a:spcPts val="800"/>
              </a:spcBef>
              <a:buFont typeface="Courier New" panose="02070309020205020404" pitchFamily="49" charset="0"/>
              <a:buChar char="o"/>
              <a:defRPr sz="1800">
                <a:solidFill>
                  <a:srgbClr val="555555"/>
                </a:solidFill>
                <a:latin typeface="Calibri"/>
              </a:defRPr>
            </a:pPr>
            <a:r>
              <a:rPr dirty="0"/>
              <a:t>Empresas </a:t>
            </a:r>
            <a:r>
              <a:rPr dirty="0" err="1"/>
              <a:t>enfocadas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bienestar</a:t>
            </a:r>
            <a:r>
              <a:rPr dirty="0"/>
              <a:t> </a:t>
            </a:r>
            <a:r>
              <a:rPr dirty="0" err="1"/>
              <a:t>laboral</a:t>
            </a:r>
            <a:endParaRPr dirty="0"/>
          </a:p>
          <a:p>
            <a:pPr marL="285750" indent="-285750">
              <a:spcBef>
                <a:spcPts val="800"/>
              </a:spcBef>
              <a:buFont typeface="Courier New" panose="02070309020205020404" pitchFamily="49" charset="0"/>
              <a:buChar char="o"/>
              <a:defRPr sz="1800">
                <a:solidFill>
                  <a:srgbClr val="555555"/>
                </a:solidFill>
                <a:latin typeface="Calibri"/>
              </a:defRPr>
            </a:pPr>
            <a:r>
              <a:rPr dirty="0"/>
              <a:t>Personas </a:t>
            </a:r>
            <a:r>
              <a:rPr dirty="0" err="1"/>
              <a:t>interesadas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optimizar</a:t>
            </a:r>
            <a:r>
              <a:rPr dirty="0"/>
              <a:t> </a:t>
            </a:r>
            <a:r>
              <a:rPr dirty="0" err="1"/>
              <a:t>hábitos</a:t>
            </a:r>
            <a:r>
              <a:rPr dirty="0"/>
              <a:t> de </a:t>
            </a:r>
            <a:r>
              <a:rPr dirty="0" err="1"/>
              <a:t>sueño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9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Calibri"/>
              </a:rPr>
              <a:t>Data Science | Coderhouse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  <a:latin typeface="Calibri"/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38FEFA-8190-CE23-9E9D-E22D78938E89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A3C5A"/>
                </a:solidFill>
                <a:latin typeface="Segoe UI"/>
              </a:rPr>
              <a:t>PREGUNTAS E HIPÓTESIS DE INTERÉS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9728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A3C5A"/>
                </a:solidFill>
                <a:latin typeface="Segoe UI"/>
              </a:rPr>
              <a:t>Preguntas principales</a:t>
            </a:r>
          </a:p>
          <a:p>
            <a:pPr>
              <a:spcBef>
                <a:spcPts val="600"/>
              </a:spcBef>
              <a:defRPr sz="1800">
                <a:solidFill>
                  <a:srgbClr val="555555"/>
                </a:solidFill>
                <a:latin typeface="Calibri"/>
              </a:defRPr>
            </a:pPr>
            <a:r>
              <a:t>¿Existe una correlación negativa entre duración del sueño y nivel de estrés?</a:t>
            </a:r>
          </a:p>
          <a:p>
            <a:pPr>
              <a:spcBef>
                <a:spcPts val="600"/>
              </a:spcBef>
              <a:defRPr sz="1800">
                <a:solidFill>
                  <a:srgbClr val="555555"/>
                </a:solidFill>
                <a:latin typeface="Calibri"/>
              </a:defRPr>
            </a:pPr>
            <a:r>
              <a:t>¿Cómo influye la actividad física en la calidad del sueño?</a:t>
            </a:r>
          </a:p>
          <a:p>
            <a:pPr>
              <a:spcBef>
                <a:spcPts val="600"/>
              </a:spcBef>
              <a:defRPr sz="1800">
                <a:solidFill>
                  <a:srgbClr val="555555"/>
                </a:solidFill>
                <a:latin typeface="Calibri"/>
              </a:defRPr>
            </a:pPr>
            <a:r>
              <a:t>¿Hay diferencias en los patrones de sueño por género o edad?</a:t>
            </a:r>
          </a:p>
          <a:p>
            <a:pPr>
              <a:spcBef>
                <a:spcPts val="600"/>
              </a:spcBef>
              <a:defRPr sz="1800">
                <a:solidFill>
                  <a:srgbClr val="555555"/>
                </a:solidFill>
                <a:latin typeface="Calibri"/>
              </a:defRPr>
            </a:pPr>
            <a:r>
              <a:t>¿Cumplen los individuos las recomendaciones de la OMS en actividad física, y cómo se relaciona con el sueño?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69080"/>
            <a:ext cx="10972800" cy="1918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dirty="0" err="1">
                <a:solidFill>
                  <a:srgbClr val="1A3C5A"/>
                </a:solidFill>
                <a:latin typeface="Segoe UI"/>
              </a:rPr>
              <a:t>Hipótesis</a:t>
            </a:r>
            <a:r>
              <a:rPr sz="2000" b="1" dirty="0">
                <a:solidFill>
                  <a:srgbClr val="1A3C5A"/>
                </a:solidFill>
                <a:latin typeface="Segoe UI"/>
              </a:rPr>
              <a:t> (H)</a:t>
            </a:r>
          </a:p>
          <a:p>
            <a:pPr>
              <a:spcBef>
                <a:spcPts val="600"/>
              </a:spcBef>
              <a:defRPr sz="1800">
                <a:solidFill>
                  <a:srgbClr val="555555"/>
                </a:solidFill>
                <a:latin typeface="Calibri"/>
              </a:defRPr>
            </a:pPr>
            <a:r>
              <a:rPr dirty="0"/>
              <a:t>H1: Más horas de </a:t>
            </a:r>
            <a:r>
              <a:rPr dirty="0" err="1"/>
              <a:t>sueño</a:t>
            </a:r>
            <a:r>
              <a:rPr dirty="0"/>
              <a:t> → </a:t>
            </a:r>
            <a:r>
              <a:rPr dirty="0" err="1"/>
              <a:t>menor</a:t>
            </a:r>
            <a:r>
              <a:rPr dirty="0"/>
              <a:t> </a:t>
            </a:r>
            <a:r>
              <a:rPr dirty="0" err="1"/>
              <a:t>estrés</a:t>
            </a:r>
            <a:endParaRPr dirty="0"/>
          </a:p>
          <a:p>
            <a:pPr>
              <a:spcBef>
                <a:spcPts val="600"/>
              </a:spcBef>
              <a:defRPr sz="1800">
                <a:solidFill>
                  <a:srgbClr val="555555"/>
                </a:solidFill>
                <a:latin typeface="Calibri"/>
              </a:defRPr>
            </a:pPr>
            <a:r>
              <a:rPr dirty="0"/>
              <a:t>H2: Más </a:t>
            </a:r>
            <a:r>
              <a:rPr dirty="0" err="1"/>
              <a:t>actividad</a:t>
            </a:r>
            <a:r>
              <a:rPr dirty="0"/>
              <a:t> </a:t>
            </a:r>
            <a:r>
              <a:rPr dirty="0" err="1"/>
              <a:t>física</a:t>
            </a:r>
            <a:r>
              <a:rPr dirty="0"/>
              <a:t> → </a:t>
            </a:r>
            <a:r>
              <a:rPr dirty="0" err="1"/>
              <a:t>mejor</a:t>
            </a:r>
            <a:r>
              <a:rPr dirty="0"/>
              <a:t> </a:t>
            </a:r>
            <a:r>
              <a:rPr dirty="0" err="1"/>
              <a:t>calidad</a:t>
            </a:r>
            <a:r>
              <a:rPr dirty="0"/>
              <a:t> de </a:t>
            </a:r>
            <a:r>
              <a:rPr dirty="0" err="1"/>
              <a:t>sueño</a:t>
            </a:r>
            <a:endParaRPr dirty="0"/>
          </a:p>
          <a:p>
            <a:pPr>
              <a:spcBef>
                <a:spcPts val="600"/>
              </a:spcBef>
              <a:defRPr sz="1800">
                <a:solidFill>
                  <a:srgbClr val="555555"/>
                </a:solidFill>
                <a:latin typeface="Calibri"/>
              </a:defRPr>
            </a:pPr>
            <a:r>
              <a:rPr dirty="0"/>
              <a:t>H3: </a:t>
            </a:r>
            <a:r>
              <a:rPr dirty="0" err="1"/>
              <a:t>Existen</a:t>
            </a:r>
            <a:r>
              <a:rPr dirty="0"/>
              <a:t> </a:t>
            </a:r>
            <a:r>
              <a:rPr dirty="0" err="1"/>
              <a:t>diferencias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género</a:t>
            </a:r>
            <a:r>
              <a:rPr dirty="0"/>
              <a:t>/</a:t>
            </a:r>
            <a:r>
              <a:rPr dirty="0" err="1"/>
              <a:t>edad</a:t>
            </a:r>
            <a:endParaRPr dirty="0"/>
          </a:p>
          <a:p>
            <a:pPr>
              <a:spcBef>
                <a:spcPts val="600"/>
              </a:spcBef>
              <a:defRPr sz="1800">
                <a:solidFill>
                  <a:srgbClr val="555555"/>
                </a:solidFill>
                <a:latin typeface="Calibri"/>
              </a:defRPr>
            </a:pPr>
            <a:r>
              <a:rPr dirty="0"/>
              <a:t>H4: </a:t>
            </a:r>
            <a:r>
              <a:rPr dirty="0" err="1"/>
              <a:t>Cumplir</a:t>
            </a:r>
            <a:r>
              <a:rPr dirty="0"/>
              <a:t> </a:t>
            </a:r>
            <a:r>
              <a:rPr lang="es-AR" dirty="0"/>
              <a:t>con las recomendaciones de la </a:t>
            </a:r>
            <a:r>
              <a:rPr dirty="0"/>
              <a:t>OMS se </a:t>
            </a:r>
            <a:r>
              <a:rPr dirty="0" err="1"/>
              <a:t>asocia</a:t>
            </a:r>
            <a:r>
              <a:rPr dirty="0"/>
              <a:t> a </a:t>
            </a:r>
            <a:r>
              <a:rPr dirty="0" err="1"/>
              <a:t>mejor</a:t>
            </a:r>
            <a:r>
              <a:rPr dirty="0"/>
              <a:t> </a:t>
            </a:r>
            <a:r>
              <a:rPr dirty="0" err="1"/>
              <a:t>sueño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822960" y="3840480"/>
            <a:ext cx="1097280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9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Calibri"/>
              </a:rPr>
              <a:t>Data Science | Coderhouse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  <a:latin typeface="Calibri"/>
              </a:rPr>
              <a:t>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7D86BC-483E-58B4-64F8-2534F768B7FB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A3C5A"/>
                </a:solidFill>
                <a:latin typeface="Segoe UI"/>
              </a:rPr>
              <a:t>RESUMEN DE METADATA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3566160" cy="1234440"/>
          </a:xfrm>
          <a:prstGeom prst="roundRect">
            <a:avLst/>
          </a:prstGeom>
          <a:solidFill>
            <a:schemeClr val="tx2">
              <a:lumMod val="50000"/>
            </a:schemeClr>
          </a:solidFill>
          <a:ln w="12700">
            <a:solidFill>
              <a:srgbClr val="D2F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3400" b="1" dirty="0">
                <a:solidFill>
                  <a:schemeClr val="bg1"/>
                </a:solidFill>
                <a:latin typeface="Segoe UI"/>
              </a:rPr>
              <a:t>374</a:t>
            </a:r>
          </a:p>
          <a:p>
            <a:pPr>
              <a:spcBef>
                <a:spcPts val="200"/>
              </a:spcBef>
            </a:pPr>
            <a:r>
              <a:rPr sz="1400" dirty="0" err="1">
                <a:solidFill>
                  <a:schemeClr val="bg1"/>
                </a:solidFill>
                <a:latin typeface="Calibri"/>
              </a:rPr>
              <a:t>registros</a:t>
            </a:r>
            <a:endParaRPr sz="14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2960" y="1600200"/>
            <a:ext cx="73152" cy="123444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617720" y="1600200"/>
            <a:ext cx="3566160" cy="1234440"/>
          </a:xfrm>
          <a:prstGeom prst="roundRect">
            <a:avLst/>
          </a:prstGeom>
          <a:solidFill>
            <a:schemeClr val="tx2">
              <a:lumMod val="50000"/>
            </a:schemeClr>
          </a:solidFill>
          <a:ln w="12700">
            <a:solidFill>
              <a:srgbClr val="D2F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3400" b="1" dirty="0">
                <a:solidFill>
                  <a:schemeClr val="bg1"/>
                </a:solidFill>
                <a:latin typeface="Segoe UI"/>
              </a:rPr>
              <a:t>13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chemeClr val="bg1"/>
                </a:solidFill>
                <a:latin typeface="Calibri"/>
              </a:rPr>
              <a:t>variables clave</a:t>
            </a:r>
          </a:p>
        </p:txBody>
      </p:sp>
      <p:sp>
        <p:nvSpPr>
          <p:cNvPr id="7" name="Rectangle 6"/>
          <p:cNvSpPr/>
          <p:nvPr/>
        </p:nvSpPr>
        <p:spPr>
          <a:xfrm>
            <a:off x="4617720" y="1600200"/>
            <a:ext cx="73152" cy="123444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12480" y="1600200"/>
            <a:ext cx="2862072" cy="1234440"/>
          </a:xfrm>
          <a:prstGeom prst="roundRect">
            <a:avLst/>
          </a:prstGeom>
          <a:solidFill>
            <a:schemeClr val="tx2">
              <a:lumMod val="50000"/>
            </a:schemeClr>
          </a:solidFill>
          <a:ln w="12700">
            <a:solidFill>
              <a:srgbClr val="D2F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3400" b="1">
                <a:solidFill>
                  <a:schemeClr val="bg1"/>
                </a:solidFill>
                <a:latin typeface="Segoe UI"/>
              </a:rPr>
              <a:t>Kaggle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chemeClr val="bg1"/>
                </a:solidFill>
                <a:latin typeface="Calibri"/>
              </a:rPr>
              <a:t>fuente principal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1600200"/>
            <a:ext cx="73152" cy="123444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  <a:defRPr sz="1800">
                <a:solidFill>
                  <a:srgbClr val="555555"/>
                </a:solidFill>
                <a:latin typeface="Calibri"/>
              </a:defRPr>
            </a:pPr>
            <a:r>
              <a:rPr dirty="0"/>
              <a:t>Fuente principal: Dataset </a:t>
            </a:r>
            <a:r>
              <a:rPr dirty="0" err="1"/>
              <a:t>público</a:t>
            </a:r>
            <a:r>
              <a:rPr dirty="0"/>
              <a:t> Kaggle – Lifestyle and Sleep Patterns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800">
                <a:solidFill>
                  <a:srgbClr val="555555"/>
                </a:solidFill>
                <a:latin typeface="Calibri"/>
              </a:defRPr>
            </a:pPr>
            <a:r>
              <a:rPr dirty="0" err="1"/>
              <a:t>Enriquecimiento</a:t>
            </a:r>
            <a:r>
              <a:rPr dirty="0"/>
              <a:t>: </a:t>
            </a:r>
            <a:r>
              <a:rPr dirty="0" err="1"/>
              <a:t>Estándares</a:t>
            </a:r>
            <a:r>
              <a:rPr dirty="0"/>
              <a:t> OMS (≥30 min/día de </a:t>
            </a:r>
            <a:r>
              <a:rPr dirty="0" err="1"/>
              <a:t>actividad</a:t>
            </a:r>
            <a:r>
              <a:rPr dirty="0"/>
              <a:t> </a:t>
            </a:r>
            <a:r>
              <a:rPr dirty="0" err="1"/>
              <a:t>física</a:t>
            </a:r>
            <a:r>
              <a:rPr dirty="0"/>
              <a:t>)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800">
                <a:solidFill>
                  <a:srgbClr val="555555"/>
                </a:solidFill>
                <a:latin typeface="Calibri"/>
              </a:defRPr>
            </a:pPr>
            <a:r>
              <a:rPr dirty="0"/>
              <a:t>Variables </a:t>
            </a:r>
            <a:r>
              <a:rPr dirty="0" err="1"/>
              <a:t>destacadas</a:t>
            </a:r>
            <a:r>
              <a:rPr dirty="0"/>
              <a:t>: </a:t>
            </a:r>
            <a:r>
              <a:rPr dirty="0" err="1"/>
              <a:t>Duración_Sueño</a:t>
            </a:r>
            <a:r>
              <a:rPr dirty="0"/>
              <a:t> (horas), </a:t>
            </a:r>
            <a:r>
              <a:rPr dirty="0" err="1"/>
              <a:t>Calidad_Sueño</a:t>
            </a:r>
            <a:r>
              <a:rPr dirty="0"/>
              <a:t> (1–10), </a:t>
            </a:r>
            <a:r>
              <a:rPr dirty="0" err="1"/>
              <a:t>Nivel_Estrés</a:t>
            </a:r>
            <a:r>
              <a:rPr dirty="0"/>
              <a:t> (1–10), </a:t>
            </a:r>
            <a:r>
              <a:rPr dirty="0" err="1"/>
              <a:t>Nivel_Actividad_Física</a:t>
            </a:r>
            <a:r>
              <a:rPr dirty="0"/>
              <a:t> (min/día), </a:t>
            </a:r>
            <a:r>
              <a:rPr dirty="0" err="1"/>
              <a:t>Género</a:t>
            </a:r>
            <a:r>
              <a:rPr dirty="0"/>
              <a:t>, Edad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419088"/>
            <a:ext cx="10607040" cy="9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Calibri"/>
              </a:rPr>
              <a:t>Data Science | Coderhouse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  <a:latin typeface="Calibri"/>
              </a:rPr>
              <a:t>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08B79-A7B4-D872-9008-6ED4A755FE7B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C3E063B-7904-124F-78AF-D0D688A0E64A}"/>
              </a:ext>
            </a:extLst>
          </p:cNvPr>
          <p:cNvSpPr/>
          <p:nvPr/>
        </p:nvSpPr>
        <p:spPr>
          <a:xfrm>
            <a:off x="0" y="73152"/>
            <a:ext cx="7132320" cy="6784848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67522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dirty="0">
                <a:solidFill>
                  <a:schemeClr val="bg1"/>
                </a:solidFill>
                <a:latin typeface="Segoe UI"/>
              </a:rPr>
              <a:t>ANÁLISIS EXPLORATORIO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555555"/>
                </a:solidFill>
                <a:latin typeface="Calibri"/>
              </a:rPr>
              <a:t>Duración del Sueño vs Nivel de Estrés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12482" y="2971800"/>
            <a:ext cx="466745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 b="1" dirty="0" err="1">
                <a:solidFill>
                  <a:srgbClr val="1A3C5A"/>
                </a:solidFill>
                <a:latin typeface="Segoe UI"/>
              </a:rPr>
              <a:t>Correlación</a:t>
            </a:r>
            <a:r>
              <a:rPr sz="1800" b="1" dirty="0">
                <a:solidFill>
                  <a:srgbClr val="1A3C5A"/>
                </a:solidFill>
                <a:latin typeface="Segoe UI"/>
              </a:rPr>
              <a:t>: -0.81 (</a:t>
            </a:r>
            <a:r>
              <a:rPr sz="1800" b="1" dirty="0" err="1">
                <a:solidFill>
                  <a:srgbClr val="1A3C5A"/>
                </a:solidFill>
                <a:latin typeface="Segoe UI"/>
              </a:rPr>
              <a:t>fuerte</a:t>
            </a:r>
            <a:r>
              <a:rPr sz="1800" b="1" dirty="0">
                <a:solidFill>
                  <a:srgbClr val="1A3C5A"/>
                </a:solidFill>
                <a:latin typeface="Segoe UI"/>
              </a:rPr>
              <a:t> </a:t>
            </a:r>
            <a:r>
              <a:rPr sz="1800" b="1" dirty="0" err="1">
                <a:solidFill>
                  <a:srgbClr val="1A3C5A"/>
                </a:solidFill>
                <a:latin typeface="Segoe UI"/>
              </a:rPr>
              <a:t>negativa</a:t>
            </a:r>
            <a:r>
              <a:rPr sz="1800" b="1" dirty="0">
                <a:solidFill>
                  <a:srgbClr val="1A3C5A"/>
                </a:solidFill>
                <a:latin typeface="Segoe UI"/>
              </a:rPr>
              <a:t>)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rPr dirty="0"/>
              <a:t>Insight: Mayor </a:t>
            </a:r>
            <a:r>
              <a:rPr dirty="0" err="1"/>
              <a:t>duración</a:t>
            </a:r>
            <a:r>
              <a:rPr dirty="0"/>
              <a:t> del </a:t>
            </a:r>
            <a:r>
              <a:rPr dirty="0" err="1"/>
              <a:t>sueño</a:t>
            </a:r>
            <a:r>
              <a:rPr dirty="0"/>
              <a:t> se </a:t>
            </a:r>
            <a:r>
              <a:rPr dirty="0" err="1"/>
              <a:t>asocia</a:t>
            </a:r>
            <a:r>
              <a:rPr dirty="0"/>
              <a:t> </a:t>
            </a:r>
            <a:r>
              <a:rPr dirty="0" err="1"/>
              <a:t>claramente</a:t>
            </a:r>
            <a:r>
              <a:rPr dirty="0"/>
              <a:t> con </a:t>
            </a:r>
            <a:r>
              <a:rPr dirty="0" err="1"/>
              <a:t>menor</a:t>
            </a:r>
            <a:r>
              <a:rPr dirty="0"/>
              <a:t> </a:t>
            </a:r>
            <a:r>
              <a:rPr dirty="0" err="1"/>
              <a:t>estrés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9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Calibri"/>
              </a:rPr>
              <a:t>Data Science | Coderhouse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  <a:latin typeface="Calibri"/>
              </a:rPr>
              <a:t>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9728F2-54B2-F6BE-E85D-C0C349DFCEE1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A graph with blue dots&#10;&#10;AI-generated content may be incorrect.">
            <a:extLst>
              <a:ext uri="{FF2B5EF4-FFF2-40B4-BE49-F238E27FC236}">
                <a16:creationId xmlns:a16="http://schemas.microsoft.com/office/drawing/2014/main" id="{2A216F17-8DAA-8483-DC1C-96B1D9CD3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80" y="1234439"/>
            <a:ext cx="6168750" cy="482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E911579-6836-E199-2122-4A94C60C0FA9}"/>
              </a:ext>
            </a:extLst>
          </p:cNvPr>
          <p:cNvSpPr/>
          <p:nvPr/>
        </p:nvSpPr>
        <p:spPr>
          <a:xfrm>
            <a:off x="0" y="73152"/>
            <a:ext cx="7132320" cy="6784848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67522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dirty="0">
                <a:solidFill>
                  <a:schemeClr val="bg1"/>
                </a:solidFill>
                <a:latin typeface="Segoe UI"/>
              </a:rPr>
              <a:t>ANÁLISIS EXPLORATORIO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45123" y="2998113"/>
            <a:ext cx="455063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1A3C5A"/>
                </a:solidFill>
                <a:latin typeface="Segoe UI"/>
              </a:rPr>
              <a:t>En </a:t>
            </a:r>
            <a:r>
              <a:rPr sz="1800" b="1" dirty="0" err="1">
                <a:solidFill>
                  <a:srgbClr val="1A3C5A"/>
                </a:solidFill>
                <a:latin typeface="Segoe UI"/>
              </a:rPr>
              <a:t>el</a:t>
            </a:r>
            <a:r>
              <a:rPr sz="1800" b="1" dirty="0">
                <a:solidFill>
                  <a:srgbClr val="1A3C5A"/>
                </a:solidFill>
                <a:latin typeface="Segoe UI"/>
              </a:rPr>
              <a:t> dataset: 100% </a:t>
            </a:r>
            <a:r>
              <a:rPr sz="1800" b="1" dirty="0" err="1">
                <a:solidFill>
                  <a:srgbClr val="1A3C5A"/>
                </a:solidFill>
                <a:latin typeface="Segoe UI"/>
              </a:rPr>
              <a:t>cumple</a:t>
            </a:r>
            <a:r>
              <a:rPr sz="1800" b="1" dirty="0">
                <a:solidFill>
                  <a:srgbClr val="1A3C5A"/>
                </a:solidFill>
                <a:latin typeface="Segoe UI"/>
              </a:rPr>
              <a:t> ≥30 min/día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rPr dirty="0"/>
              <a:t>Insight: </a:t>
            </a:r>
            <a:r>
              <a:rPr dirty="0" err="1"/>
              <a:t>Cumplir</a:t>
            </a:r>
            <a:r>
              <a:rPr dirty="0"/>
              <a:t> </a:t>
            </a:r>
            <a:r>
              <a:rPr dirty="0" err="1"/>
              <a:t>recomendaciones</a:t>
            </a:r>
            <a:r>
              <a:rPr dirty="0"/>
              <a:t> de </a:t>
            </a:r>
            <a:r>
              <a:rPr dirty="0" err="1"/>
              <a:t>actividad</a:t>
            </a:r>
            <a:r>
              <a:rPr dirty="0"/>
              <a:t> </a:t>
            </a:r>
            <a:r>
              <a:rPr dirty="0" err="1"/>
              <a:t>física</a:t>
            </a:r>
            <a:r>
              <a:rPr dirty="0"/>
              <a:t> se </a:t>
            </a:r>
            <a:r>
              <a:rPr dirty="0" err="1"/>
              <a:t>relaciona</a:t>
            </a:r>
            <a:r>
              <a:rPr dirty="0"/>
              <a:t> con </a:t>
            </a:r>
            <a:r>
              <a:rPr dirty="0" err="1"/>
              <a:t>mejor</a:t>
            </a:r>
            <a:r>
              <a:rPr dirty="0"/>
              <a:t> </a:t>
            </a:r>
            <a:r>
              <a:rPr dirty="0" err="1"/>
              <a:t>calidad</a:t>
            </a:r>
            <a:r>
              <a:rPr dirty="0"/>
              <a:t> de </a:t>
            </a:r>
            <a:r>
              <a:rPr dirty="0" err="1"/>
              <a:t>sueño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9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Calibri"/>
              </a:rPr>
              <a:t>Data Science | Coderhouse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  <a:latin typeface="Calibri"/>
              </a:rPr>
              <a:t>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4A2A69-1C74-A534-122A-DFD6861590B8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BF58180-B426-9301-B2CA-875603624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421" y="1191625"/>
            <a:ext cx="5941228" cy="48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8175630-2E16-67E2-8FEE-5AA19C65F952}"/>
              </a:ext>
            </a:extLst>
          </p:cNvPr>
          <p:cNvSpPr/>
          <p:nvPr/>
        </p:nvSpPr>
        <p:spPr>
          <a:xfrm>
            <a:off x="0" y="73152"/>
            <a:ext cx="7132320" cy="6784848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67522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dirty="0">
                <a:solidFill>
                  <a:schemeClr val="bg1"/>
                </a:solidFill>
                <a:latin typeface="Segoe UI"/>
              </a:rPr>
              <a:t>ANÁLISIS EXPLORATORIO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45123" y="3003717"/>
            <a:ext cx="464207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1A3C5A"/>
                </a:solidFill>
                <a:latin typeface="Segoe UI"/>
              </a:rPr>
              <a:t>Mujeres: ~7.8  |  Hombres: ~7.0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rPr dirty="0"/>
              <a:t>Insight: En </a:t>
            </a:r>
            <a:r>
              <a:rPr dirty="0" err="1"/>
              <a:t>este</a:t>
            </a:r>
            <a:r>
              <a:rPr dirty="0"/>
              <a:t> conjunto de </a:t>
            </a:r>
            <a:r>
              <a:rPr dirty="0" err="1"/>
              <a:t>datos</a:t>
            </a:r>
            <a:r>
              <a:rPr dirty="0"/>
              <a:t>, las </a:t>
            </a:r>
            <a:r>
              <a:rPr dirty="0" err="1"/>
              <a:t>mujeres</a:t>
            </a:r>
            <a:r>
              <a:rPr dirty="0"/>
              <a:t> </a:t>
            </a:r>
            <a:r>
              <a:rPr dirty="0" err="1"/>
              <a:t>reportan</a:t>
            </a:r>
            <a:r>
              <a:rPr dirty="0"/>
              <a:t> </a:t>
            </a:r>
            <a:r>
              <a:rPr dirty="0" err="1"/>
              <a:t>mejor</a:t>
            </a:r>
            <a:r>
              <a:rPr dirty="0"/>
              <a:t> </a:t>
            </a:r>
            <a:r>
              <a:rPr dirty="0" err="1"/>
              <a:t>calidad</a:t>
            </a:r>
            <a:r>
              <a:rPr dirty="0"/>
              <a:t> de </a:t>
            </a:r>
            <a:r>
              <a:rPr dirty="0" err="1"/>
              <a:t>sueño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9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Calibri"/>
              </a:rPr>
              <a:t>Data Science | Coderhouse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  <a:latin typeface="Calibri"/>
              </a:rPr>
              <a:t>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00F5C9-539E-6B9B-2567-47C27079E1A8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BEFA3F0-986B-46E0-B393-07250EF15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" y="1219352"/>
            <a:ext cx="5951914" cy="48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B783F7E-CF39-6205-C43E-887E57E4B778}"/>
              </a:ext>
            </a:extLst>
          </p:cNvPr>
          <p:cNvSpPr/>
          <p:nvPr/>
        </p:nvSpPr>
        <p:spPr>
          <a:xfrm>
            <a:off x="0" y="73152"/>
            <a:ext cx="7132320" cy="6784848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67522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dirty="0">
                <a:solidFill>
                  <a:schemeClr val="bg1"/>
                </a:solidFill>
                <a:latin typeface="Segoe UI"/>
              </a:rPr>
              <a:t>ANÁLISIS EXPLORATORIO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05368" y="2998113"/>
            <a:ext cx="51816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 err="1">
                <a:solidFill>
                  <a:srgbClr val="1A3C5A"/>
                </a:solidFill>
                <a:latin typeface="Segoe UI"/>
              </a:rPr>
              <a:t>Mayores</a:t>
            </a:r>
            <a:r>
              <a:rPr sz="1800" b="1" dirty="0">
                <a:solidFill>
                  <a:srgbClr val="1A3C5A"/>
                </a:solidFill>
                <a:latin typeface="Segoe UI"/>
              </a:rPr>
              <a:t> (&gt;50 </a:t>
            </a:r>
            <a:r>
              <a:rPr sz="1800" b="1" dirty="0" err="1">
                <a:solidFill>
                  <a:srgbClr val="1A3C5A"/>
                </a:solidFill>
                <a:latin typeface="Segoe UI"/>
              </a:rPr>
              <a:t>años</a:t>
            </a:r>
            <a:r>
              <a:rPr sz="1800" b="1" dirty="0">
                <a:solidFill>
                  <a:srgbClr val="1A3C5A"/>
                </a:solidFill>
                <a:latin typeface="Segoe UI"/>
              </a:rPr>
              <a:t>): ~8 horas </a:t>
            </a:r>
            <a:r>
              <a:rPr sz="1800" b="1" dirty="0" err="1">
                <a:solidFill>
                  <a:srgbClr val="1A3C5A"/>
                </a:solidFill>
                <a:latin typeface="Segoe UI"/>
              </a:rPr>
              <a:t>promedio</a:t>
            </a:r>
            <a:endParaRPr sz="1800" b="1" dirty="0">
              <a:solidFill>
                <a:srgbClr val="1A3C5A"/>
              </a:solidFill>
              <a:latin typeface="Segoe UI"/>
            </a:endParaRP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rPr dirty="0"/>
              <a:t>Insight: </a:t>
            </a:r>
            <a:r>
              <a:rPr dirty="0" err="1"/>
              <a:t>Adultos</a:t>
            </a:r>
            <a:r>
              <a:rPr dirty="0"/>
              <a:t> </a:t>
            </a:r>
            <a:r>
              <a:rPr dirty="0" err="1"/>
              <a:t>mayores</a:t>
            </a:r>
            <a:r>
              <a:rPr dirty="0"/>
              <a:t> </a:t>
            </a:r>
            <a:r>
              <a:rPr dirty="0" err="1"/>
              <a:t>muestran</a:t>
            </a:r>
            <a:r>
              <a:rPr dirty="0"/>
              <a:t> mayor </a:t>
            </a:r>
            <a:r>
              <a:rPr dirty="0" err="1"/>
              <a:t>duración</a:t>
            </a:r>
            <a:r>
              <a:rPr dirty="0"/>
              <a:t> y </a:t>
            </a:r>
            <a:r>
              <a:rPr dirty="0" err="1"/>
              <a:t>consistencia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sueño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9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Calibri"/>
              </a:rPr>
              <a:t>Data Science | Coderhouse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  <a:latin typeface="Calibri"/>
              </a:rPr>
              <a:t>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D9F51C-F8A1-09F4-6B4A-82C8CDAC4DF4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1F446C5-2575-89F9-4A59-F2B3A0FCFC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" y="1191625"/>
            <a:ext cx="6110108" cy="4846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5DDBCF-B0F3-B46A-0B9C-D64A7796F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0A8D68D-AFE2-ACC2-D666-D5CA6CAE7BB1}"/>
              </a:ext>
            </a:extLst>
          </p:cNvPr>
          <p:cNvSpPr/>
          <p:nvPr/>
        </p:nvSpPr>
        <p:spPr>
          <a:xfrm>
            <a:off x="0" y="73152"/>
            <a:ext cx="7132320" cy="6784848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F603E3-5619-8A8E-370B-1C3195C23B7C}"/>
              </a:ext>
            </a:extLst>
          </p:cNvPr>
          <p:cNvSpPr txBox="1"/>
          <p:nvPr/>
        </p:nvSpPr>
        <p:spPr>
          <a:xfrm>
            <a:off x="822960" y="502920"/>
            <a:ext cx="6108595" cy="1138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s-ES" sz="3400" b="1" dirty="0">
                <a:solidFill>
                  <a:schemeClr val="bg1"/>
                </a:solidFill>
                <a:latin typeface="Segoe UI"/>
              </a:rPr>
              <a:t>MATRIZ DE CORRELACIONES</a:t>
            </a:r>
          </a:p>
          <a:p>
            <a:pPr algn="l"/>
            <a:endParaRPr lang="es-ES" sz="3400" b="1" dirty="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9B5747-FCEB-C6C8-9F65-24423FE6037A}"/>
              </a:ext>
            </a:extLst>
          </p:cNvPr>
          <p:cNvSpPr txBox="1"/>
          <p:nvPr/>
        </p:nvSpPr>
        <p:spPr>
          <a:xfrm>
            <a:off x="7187803" y="1542330"/>
            <a:ext cx="489534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1A3C5A"/>
                </a:solidFill>
                <a:latin typeface="Segoe UI"/>
              </a:rPr>
              <a:t>Correlaciones más fuertes</a:t>
            </a:r>
            <a:r>
              <a:rPr lang="es-ES" dirty="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Calidad del Sueño vs Estrés (-0.90) y Duración del Sueño vs Estrés (-0.81) → Más y mejor sueño = mucho menos estrés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Duración y Calidad del Sueño muy relacionadas (+0.88)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Actividad Física correlaciona fuertemente con Pasos Diarios (+0.77), pero su impacto directo en sueño es moderado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0A05D4-7AA8-E63F-E81E-373FE0AC452F}"/>
              </a:ext>
            </a:extLst>
          </p:cNvPr>
          <p:cNvSpPr/>
          <p:nvPr/>
        </p:nvSpPr>
        <p:spPr>
          <a:xfrm>
            <a:off x="822960" y="6419088"/>
            <a:ext cx="10607040" cy="9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B37CFF-E154-1359-38DC-247ECD5E70BC}"/>
              </a:ext>
            </a:extLst>
          </p:cNvPr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Calibri"/>
              </a:rPr>
              <a:t>Data Science | Coderhouse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7F77DD-A8EA-D028-8367-67CA35ACF100}"/>
              </a:ext>
            </a:extLst>
          </p:cNvPr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  <a:latin typeface="Calibri"/>
              </a:rPr>
              <a:t>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6C7831-1038-2309-0489-E588B84816B3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AD09ACF-F09E-D5F6-FD0D-723174493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822960" y="1200768"/>
            <a:ext cx="5640116" cy="4981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" name="Graphic 15" descr="Lights On outline">
            <a:extLst>
              <a:ext uri="{FF2B5EF4-FFF2-40B4-BE49-F238E27FC236}">
                <a16:creationId xmlns:a16="http://schemas.microsoft.com/office/drawing/2014/main" id="{CCB18E3D-CFA9-B9A6-1DD6-16B4C4A0CA6E}"/>
              </a:ext>
            </a:extLst>
          </p:cNvPr>
          <p:cNvGrpSpPr/>
          <p:nvPr/>
        </p:nvGrpSpPr>
        <p:grpSpPr>
          <a:xfrm>
            <a:off x="7249732" y="4945123"/>
            <a:ext cx="340721" cy="370547"/>
            <a:chOff x="7320108" y="4954106"/>
            <a:chExt cx="340721" cy="370547"/>
          </a:xfrm>
          <a:solidFill>
            <a:srgbClr val="000000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EE3B655-08AD-66D0-288E-EAAD7E231CF1}"/>
                </a:ext>
              </a:extLst>
            </p:cNvPr>
            <p:cNvSpPr/>
            <p:nvPr/>
          </p:nvSpPr>
          <p:spPr>
            <a:xfrm>
              <a:off x="7383993" y="5016381"/>
              <a:ext cx="212951" cy="222257"/>
            </a:xfrm>
            <a:custGeom>
              <a:avLst/>
              <a:gdLst>
                <a:gd name="csX0" fmla="*/ 162145 w 212951"/>
                <a:gd name="csY0" fmla="*/ 217755 h 222257"/>
                <a:gd name="csX1" fmla="*/ 187060 w 212951"/>
                <a:gd name="csY1" fmla="*/ 177295 h 222257"/>
                <a:gd name="csX2" fmla="*/ 205545 w 212951"/>
                <a:gd name="csY2" fmla="*/ 147004 h 222257"/>
                <a:gd name="csX3" fmla="*/ 212951 w 212951"/>
                <a:gd name="csY3" fmla="*/ 110138 h 222257"/>
                <a:gd name="csX4" fmla="*/ 212951 w 212951"/>
                <a:gd name="csY4" fmla="*/ 106476 h 222257"/>
                <a:gd name="csX5" fmla="*/ 106476 w 212951"/>
                <a:gd name="csY5" fmla="*/ 0 h 222257"/>
                <a:gd name="csX6" fmla="*/ 0 w 212951"/>
                <a:gd name="csY6" fmla="*/ 106476 h 222257"/>
                <a:gd name="csX7" fmla="*/ 0 w 212951"/>
                <a:gd name="csY7" fmla="*/ 110138 h 222257"/>
                <a:gd name="csX8" fmla="*/ 7411 w 212951"/>
                <a:gd name="csY8" fmla="*/ 146992 h 222257"/>
                <a:gd name="csX9" fmla="*/ 25895 w 212951"/>
                <a:gd name="csY9" fmla="*/ 177282 h 222257"/>
                <a:gd name="csX10" fmla="*/ 50810 w 212951"/>
                <a:gd name="csY10" fmla="*/ 217742 h 222257"/>
                <a:gd name="csX11" fmla="*/ 58097 w 212951"/>
                <a:gd name="csY11" fmla="*/ 222257 h 222257"/>
                <a:gd name="csX12" fmla="*/ 154858 w 212951"/>
                <a:gd name="csY12" fmla="*/ 222257 h 222257"/>
                <a:gd name="csX13" fmla="*/ 162145 w 212951"/>
                <a:gd name="csY13" fmla="*/ 217755 h 222257"/>
                <a:gd name="csX14" fmla="*/ 154602 w 212951"/>
                <a:gd name="csY14" fmla="*/ 213752 h 222257"/>
                <a:gd name="csX15" fmla="*/ 58349 w 212951"/>
                <a:gd name="csY15" fmla="*/ 213752 h 222257"/>
                <a:gd name="csX16" fmla="*/ 32279 w 212951"/>
                <a:gd name="csY16" fmla="*/ 171626 h 222257"/>
                <a:gd name="csX17" fmla="*/ 15375 w 212951"/>
                <a:gd name="csY17" fmla="*/ 143942 h 222257"/>
                <a:gd name="csX18" fmla="*/ 8518 w 212951"/>
                <a:gd name="csY18" fmla="*/ 110006 h 222257"/>
                <a:gd name="csX19" fmla="*/ 8518 w 212951"/>
                <a:gd name="csY19" fmla="*/ 106633 h 222257"/>
                <a:gd name="csX20" fmla="*/ 106397 w 212951"/>
                <a:gd name="csY20" fmla="*/ 8597 h 222257"/>
                <a:gd name="csX21" fmla="*/ 204433 w 212951"/>
                <a:gd name="csY21" fmla="*/ 106476 h 222257"/>
                <a:gd name="csX22" fmla="*/ 204433 w 212951"/>
                <a:gd name="csY22" fmla="*/ 110006 h 222257"/>
                <a:gd name="csX23" fmla="*/ 197619 w 212951"/>
                <a:gd name="csY23" fmla="*/ 143912 h 222257"/>
                <a:gd name="csX24" fmla="*/ 180795 w 212951"/>
                <a:gd name="csY24" fmla="*/ 171528 h 222257"/>
                <a:gd name="csX25" fmla="*/ 154602 w 212951"/>
                <a:gd name="csY25" fmla="*/ 213752 h 2222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212951" h="222257">
                  <a:moveTo>
                    <a:pt x="162145" y="217755"/>
                  </a:moveTo>
                  <a:cubicBezTo>
                    <a:pt x="166660" y="208551"/>
                    <a:pt x="177307" y="187942"/>
                    <a:pt x="187060" y="177295"/>
                  </a:cubicBezTo>
                  <a:cubicBezTo>
                    <a:pt x="194974" y="168377"/>
                    <a:pt x="201234" y="158120"/>
                    <a:pt x="205545" y="147004"/>
                  </a:cubicBezTo>
                  <a:cubicBezTo>
                    <a:pt x="210063" y="135218"/>
                    <a:pt x="212567" y="122755"/>
                    <a:pt x="212951" y="110138"/>
                  </a:cubicBezTo>
                  <a:lnTo>
                    <a:pt x="212951" y="106476"/>
                  </a:lnTo>
                  <a:cubicBezTo>
                    <a:pt x="212951" y="47671"/>
                    <a:pt x="165280" y="0"/>
                    <a:pt x="106476" y="0"/>
                  </a:cubicBezTo>
                  <a:cubicBezTo>
                    <a:pt x="47671" y="0"/>
                    <a:pt x="0" y="47671"/>
                    <a:pt x="0" y="106476"/>
                  </a:cubicBezTo>
                  <a:lnTo>
                    <a:pt x="0" y="110138"/>
                  </a:lnTo>
                  <a:cubicBezTo>
                    <a:pt x="387" y="122751"/>
                    <a:pt x="2892" y="135209"/>
                    <a:pt x="7411" y="146992"/>
                  </a:cubicBezTo>
                  <a:cubicBezTo>
                    <a:pt x="11722" y="158107"/>
                    <a:pt x="17981" y="168365"/>
                    <a:pt x="25895" y="177282"/>
                  </a:cubicBezTo>
                  <a:cubicBezTo>
                    <a:pt x="35648" y="187891"/>
                    <a:pt x="46296" y="208551"/>
                    <a:pt x="50810" y="217742"/>
                  </a:cubicBezTo>
                  <a:cubicBezTo>
                    <a:pt x="52187" y="220507"/>
                    <a:pt x="55009" y="222256"/>
                    <a:pt x="58097" y="222257"/>
                  </a:cubicBezTo>
                  <a:lnTo>
                    <a:pt x="154858" y="222257"/>
                  </a:lnTo>
                  <a:cubicBezTo>
                    <a:pt x="157944" y="222258"/>
                    <a:pt x="160765" y="220516"/>
                    <a:pt x="162145" y="217755"/>
                  </a:cubicBezTo>
                  <a:close/>
                  <a:moveTo>
                    <a:pt x="154602" y="213752"/>
                  </a:moveTo>
                  <a:lnTo>
                    <a:pt x="58349" y="213752"/>
                  </a:lnTo>
                  <a:cubicBezTo>
                    <a:pt x="52854" y="202576"/>
                    <a:pt x="42271" y="182491"/>
                    <a:pt x="32279" y="171626"/>
                  </a:cubicBezTo>
                  <a:cubicBezTo>
                    <a:pt x="25039" y="163480"/>
                    <a:pt x="19314" y="154104"/>
                    <a:pt x="15375" y="143942"/>
                  </a:cubicBezTo>
                  <a:cubicBezTo>
                    <a:pt x="11208" y="133093"/>
                    <a:pt x="8890" y="121622"/>
                    <a:pt x="8518" y="110006"/>
                  </a:cubicBezTo>
                  <a:lnTo>
                    <a:pt x="8518" y="106633"/>
                  </a:lnTo>
                  <a:cubicBezTo>
                    <a:pt x="8475" y="52533"/>
                    <a:pt x="52296" y="8640"/>
                    <a:pt x="106397" y="8597"/>
                  </a:cubicBezTo>
                  <a:cubicBezTo>
                    <a:pt x="160497" y="8553"/>
                    <a:pt x="204390" y="52375"/>
                    <a:pt x="204433" y="106476"/>
                  </a:cubicBezTo>
                  <a:lnTo>
                    <a:pt x="204433" y="110006"/>
                  </a:lnTo>
                  <a:cubicBezTo>
                    <a:pt x="204074" y="121610"/>
                    <a:pt x="201770" y="133071"/>
                    <a:pt x="197619" y="143912"/>
                  </a:cubicBezTo>
                  <a:cubicBezTo>
                    <a:pt x="193700" y="154046"/>
                    <a:pt x="188003" y="163398"/>
                    <a:pt x="180795" y="171528"/>
                  </a:cubicBezTo>
                  <a:cubicBezTo>
                    <a:pt x="170642" y="182618"/>
                    <a:pt x="160067" y="202661"/>
                    <a:pt x="154602" y="213752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solidFill>
                <a:schemeClr val="tx2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EC9CFDA-28EC-8934-6562-2915C12BA375}"/>
                </a:ext>
              </a:extLst>
            </p:cNvPr>
            <p:cNvSpPr/>
            <p:nvPr/>
          </p:nvSpPr>
          <p:spPr>
            <a:xfrm>
              <a:off x="7439360" y="5264448"/>
              <a:ext cx="102216" cy="8518"/>
            </a:xfrm>
            <a:custGeom>
              <a:avLst/>
              <a:gdLst>
                <a:gd name="csX0" fmla="*/ 102217 w 102216"/>
                <a:gd name="csY0" fmla="*/ 4259 h 8518"/>
                <a:gd name="csX1" fmla="*/ 97957 w 102216"/>
                <a:gd name="csY1" fmla="*/ 0 h 8518"/>
                <a:gd name="csX2" fmla="*/ 4259 w 102216"/>
                <a:gd name="csY2" fmla="*/ 0 h 8518"/>
                <a:gd name="csX3" fmla="*/ 0 w 102216"/>
                <a:gd name="csY3" fmla="*/ 4259 h 8518"/>
                <a:gd name="csX4" fmla="*/ 4259 w 102216"/>
                <a:gd name="csY4" fmla="*/ 8518 h 8518"/>
                <a:gd name="csX5" fmla="*/ 97957 w 102216"/>
                <a:gd name="csY5" fmla="*/ 8518 h 8518"/>
                <a:gd name="csX6" fmla="*/ 102217 w 102216"/>
                <a:gd name="csY6" fmla="*/ 4259 h 85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02216" h="8518">
                  <a:moveTo>
                    <a:pt x="102217" y="4259"/>
                  </a:moveTo>
                  <a:cubicBezTo>
                    <a:pt x="102217" y="1907"/>
                    <a:pt x="100310" y="0"/>
                    <a:pt x="97957" y="0"/>
                  </a:cubicBezTo>
                  <a:lnTo>
                    <a:pt x="4259" y="0"/>
                  </a:lnTo>
                  <a:cubicBezTo>
                    <a:pt x="1907" y="0"/>
                    <a:pt x="0" y="1907"/>
                    <a:pt x="0" y="4259"/>
                  </a:cubicBezTo>
                  <a:cubicBezTo>
                    <a:pt x="0" y="6611"/>
                    <a:pt x="1907" y="8518"/>
                    <a:pt x="4259" y="8518"/>
                  </a:cubicBezTo>
                  <a:lnTo>
                    <a:pt x="97957" y="8518"/>
                  </a:lnTo>
                  <a:cubicBezTo>
                    <a:pt x="100310" y="8518"/>
                    <a:pt x="102217" y="6611"/>
                    <a:pt x="102217" y="4259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solidFill>
                <a:schemeClr val="tx2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43869CC-2733-CF7E-E9C8-687C16C8F67D}"/>
                </a:ext>
              </a:extLst>
            </p:cNvPr>
            <p:cNvSpPr/>
            <p:nvPr/>
          </p:nvSpPr>
          <p:spPr>
            <a:xfrm>
              <a:off x="7465841" y="5297310"/>
              <a:ext cx="49228" cy="27342"/>
            </a:xfrm>
            <a:custGeom>
              <a:avLst/>
              <a:gdLst>
                <a:gd name="csX0" fmla="*/ 4274 w 49228"/>
                <a:gd name="csY0" fmla="*/ 0 h 27342"/>
                <a:gd name="csX1" fmla="*/ 0 w 49228"/>
                <a:gd name="csY1" fmla="*/ 4245 h 27342"/>
                <a:gd name="csX2" fmla="*/ 15 w 49228"/>
                <a:gd name="csY2" fmla="*/ 4608 h 27342"/>
                <a:gd name="csX3" fmla="*/ 26558 w 49228"/>
                <a:gd name="csY3" fmla="*/ 27265 h 27342"/>
                <a:gd name="csX4" fmla="*/ 49215 w 49228"/>
                <a:gd name="csY4" fmla="*/ 4608 h 27342"/>
                <a:gd name="csX5" fmla="*/ 45310 w 49228"/>
                <a:gd name="csY5" fmla="*/ 22 h 27342"/>
                <a:gd name="csX6" fmla="*/ 44956 w 49228"/>
                <a:gd name="csY6" fmla="*/ 9 h 27342"/>
                <a:gd name="csX7" fmla="*/ 24653 w 49228"/>
                <a:gd name="csY7" fmla="*/ 18812 h 27342"/>
                <a:gd name="csX8" fmla="*/ 9597 w 49228"/>
                <a:gd name="csY8" fmla="*/ 8518 h 27342"/>
                <a:gd name="csX9" fmla="*/ 39670 w 49228"/>
                <a:gd name="csY9" fmla="*/ 8518 h 27342"/>
                <a:gd name="csX10" fmla="*/ 24653 w 49228"/>
                <a:gd name="csY10" fmla="*/ 18812 h 273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9228" h="27342">
                  <a:moveTo>
                    <a:pt x="4274" y="0"/>
                  </a:moveTo>
                  <a:cubicBezTo>
                    <a:pt x="1921" y="-8"/>
                    <a:pt x="8" y="1892"/>
                    <a:pt x="0" y="4245"/>
                  </a:cubicBezTo>
                  <a:cubicBezTo>
                    <a:pt x="0" y="4366"/>
                    <a:pt x="5" y="4487"/>
                    <a:pt x="15" y="4608"/>
                  </a:cubicBezTo>
                  <a:cubicBezTo>
                    <a:pt x="1088" y="18195"/>
                    <a:pt x="12972" y="28338"/>
                    <a:pt x="26558" y="27265"/>
                  </a:cubicBezTo>
                  <a:cubicBezTo>
                    <a:pt x="38653" y="26309"/>
                    <a:pt x="48259" y="16703"/>
                    <a:pt x="49215" y="4608"/>
                  </a:cubicBezTo>
                  <a:cubicBezTo>
                    <a:pt x="49403" y="2264"/>
                    <a:pt x="47655" y="210"/>
                    <a:pt x="45310" y="22"/>
                  </a:cubicBezTo>
                  <a:cubicBezTo>
                    <a:pt x="45192" y="13"/>
                    <a:pt x="45074" y="8"/>
                    <a:pt x="44956" y="9"/>
                  </a:cubicBezTo>
                  <a:close/>
                  <a:moveTo>
                    <a:pt x="24653" y="18812"/>
                  </a:moveTo>
                  <a:cubicBezTo>
                    <a:pt x="18006" y="18767"/>
                    <a:pt x="12051" y="14695"/>
                    <a:pt x="9597" y="8518"/>
                  </a:cubicBezTo>
                  <a:lnTo>
                    <a:pt x="39670" y="8518"/>
                  </a:lnTo>
                  <a:cubicBezTo>
                    <a:pt x="37230" y="14689"/>
                    <a:pt x="31289" y="18761"/>
                    <a:pt x="24653" y="18812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solidFill>
                <a:schemeClr val="tx2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8D68E7B-E59F-28FE-115E-AE3CBE1B5680}"/>
                </a:ext>
              </a:extLst>
            </p:cNvPr>
            <p:cNvSpPr/>
            <p:nvPr/>
          </p:nvSpPr>
          <p:spPr>
            <a:xfrm>
              <a:off x="7486209" y="4954106"/>
              <a:ext cx="8518" cy="46849"/>
            </a:xfrm>
            <a:custGeom>
              <a:avLst/>
              <a:gdLst>
                <a:gd name="csX0" fmla="*/ 0 w 8518"/>
                <a:gd name="csY0" fmla="*/ 4259 h 46849"/>
                <a:gd name="csX1" fmla="*/ 0 w 8518"/>
                <a:gd name="csY1" fmla="*/ 42590 h 46849"/>
                <a:gd name="csX2" fmla="*/ 4259 w 8518"/>
                <a:gd name="csY2" fmla="*/ 46849 h 46849"/>
                <a:gd name="csX3" fmla="*/ 8518 w 8518"/>
                <a:gd name="csY3" fmla="*/ 42590 h 46849"/>
                <a:gd name="csX4" fmla="*/ 8518 w 8518"/>
                <a:gd name="csY4" fmla="*/ 4259 h 46849"/>
                <a:gd name="csX5" fmla="*/ 4259 w 8518"/>
                <a:gd name="csY5" fmla="*/ 0 h 46849"/>
                <a:gd name="csX6" fmla="*/ 0 w 8518"/>
                <a:gd name="csY6" fmla="*/ 4259 h 46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518" h="46849">
                  <a:moveTo>
                    <a:pt x="0" y="4259"/>
                  </a:moveTo>
                  <a:lnTo>
                    <a:pt x="0" y="42590"/>
                  </a:lnTo>
                  <a:cubicBezTo>
                    <a:pt x="0" y="44942"/>
                    <a:pt x="1907" y="46849"/>
                    <a:pt x="4259" y="46849"/>
                  </a:cubicBezTo>
                  <a:cubicBezTo>
                    <a:pt x="6611" y="46849"/>
                    <a:pt x="8518" y="44942"/>
                    <a:pt x="8518" y="42590"/>
                  </a:cubicBezTo>
                  <a:lnTo>
                    <a:pt x="8518" y="4259"/>
                  </a:lnTo>
                  <a:cubicBezTo>
                    <a:pt x="8518" y="1907"/>
                    <a:pt x="6611" y="0"/>
                    <a:pt x="4259" y="0"/>
                  </a:cubicBezTo>
                  <a:cubicBezTo>
                    <a:pt x="1907" y="0"/>
                    <a:pt x="0" y="1907"/>
                    <a:pt x="0" y="4259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solidFill>
                <a:schemeClr val="tx2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F0B0472-FD05-AB87-4B24-CFDC802F33F6}"/>
                </a:ext>
              </a:extLst>
            </p:cNvPr>
            <p:cNvSpPr/>
            <p:nvPr/>
          </p:nvSpPr>
          <p:spPr>
            <a:xfrm>
              <a:off x="7320108" y="5120207"/>
              <a:ext cx="46849" cy="8518"/>
            </a:xfrm>
            <a:custGeom>
              <a:avLst/>
              <a:gdLst>
                <a:gd name="csX0" fmla="*/ 46849 w 46849"/>
                <a:gd name="csY0" fmla="*/ 4259 h 8518"/>
                <a:gd name="csX1" fmla="*/ 42590 w 46849"/>
                <a:gd name="csY1" fmla="*/ 0 h 8518"/>
                <a:gd name="csX2" fmla="*/ 4259 w 46849"/>
                <a:gd name="csY2" fmla="*/ 0 h 8518"/>
                <a:gd name="csX3" fmla="*/ 0 w 46849"/>
                <a:gd name="csY3" fmla="*/ 4259 h 8518"/>
                <a:gd name="csX4" fmla="*/ 4259 w 46849"/>
                <a:gd name="csY4" fmla="*/ 8518 h 8518"/>
                <a:gd name="csX5" fmla="*/ 42590 w 46849"/>
                <a:gd name="csY5" fmla="*/ 8518 h 8518"/>
                <a:gd name="csX6" fmla="*/ 46849 w 46849"/>
                <a:gd name="csY6" fmla="*/ 4259 h 85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6849" h="8518">
                  <a:moveTo>
                    <a:pt x="46849" y="4259"/>
                  </a:moveTo>
                  <a:cubicBezTo>
                    <a:pt x="46849" y="1907"/>
                    <a:pt x="44942" y="0"/>
                    <a:pt x="42590" y="0"/>
                  </a:cubicBezTo>
                  <a:lnTo>
                    <a:pt x="4259" y="0"/>
                  </a:lnTo>
                  <a:cubicBezTo>
                    <a:pt x="1907" y="0"/>
                    <a:pt x="0" y="1907"/>
                    <a:pt x="0" y="4259"/>
                  </a:cubicBezTo>
                  <a:cubicBezTo>
                    <a:pt x="0" y="6611"/>
                    <a:pt x="1907" y="8518"/>
                    <a:pt x="4259" y="8518"/>
                  </a:cubicBezTo>
                  <a:lnTo>
                    <a:pt x="42590" y="8518"/>
                  </a:lnTo>
                  <a:cubicBezTo>
                    <a:pt x="44942" y="8518"/>
                    <a:pt x="46849" y="6611"/>
                    <a:pt x="46849" y="4259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solidFill>
                <a:schemeClr val="tx2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853A3CB-0007-6B56-8095-C672AA427CDC}"/>
                </a:ext>
              </a:extLst>
            </p:cNvPr>
            <p:cNvSpPr/>
            <p:nvPr/>
          </p:nvSpPr>
          <p:spPr>
            <a:xfrm>
              <a:off x="7613980" y="5120207"/>
              <a:ext cx="46849" cy="8518"/>
            </a:xfrm>
            <a:custGeom>
              <a:avLst/>
              <a:gdLst>
                <a:gd name="csX0" fmla="*/ 0 w 46849"/>
                <a:gd name="csY0" fmla="*/ 4259 h 8518"/>
                <a:gd name="csX1" fmla="*/ 4259 w 46849"/>
                <a:gd name="csY1" fmla="*/ 8518 h 8518"/>
                <a:gd name="csX2" fmla="*/ 42590 w 46849"/>
                <a:gd name="csY2" fmla="*/ 8518 h 8518"/>
                <a:gd name="csX3" fmla="*/ 46849 w 46849"/>
                <a:gd name="csY3" fmla="*/ 4259 h 8518"/>
                <a:gd name="csX4" fmla="*/ 42590 w 46849"/>
                <a:gd name="csY4" fmla="*/ 0 h 8518"/>
                <a:gd name="csX5" fmla="*/ 4259 w 46849"/>
                <a:gd name="csY5" fmla="*/ 0 h 8518"/>
                <a:gd name="csX6" fmla="*/ 0 w 46849"/>
                <a:gd name="csY6" fmla="*/ 4259 h 85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6849" h="8518">
                  <a:moveTo>
                    <a:pt x="0" y="4259"/>
                  </a:moveTo>
                  <a:cubicBezTo>
                    <a:pt x="0" y="6611"/>
                    <a:pt x="1907" y="8518"/>
                    <a:pt x="4259" y="8518"/>
                  </a:cubicBezTo>
                  <a:lnTo>
                    <a:pt x="42590" y="8518"/>
                  </a:lnTo>
                  <a:cubicBezTo>
                    <a:pt x="44942" y="8518"/>
                    <a:pt x="46849" y="6611"/>
                    <a:pt x="46849" y="4259"/>
                  </a:cubicBezTo>
                  <a:cubicBezTo>
                    <a:pt x="46849" y="1907"/>
                    <a:pt x="44942" y="0"/>
                    <a:pt x="42590" y="0"/>
                  </a:cubicBezTo>
                  <a:lnTo>
                    <a:pt x="4259" y="0"/>
                  </a:lnTo>
                  <a:cubicBezTo>
                    <a:pt x="1907" y="0"/>
                    <a:pt x="0" y="1907"/>
                    <a:pt x="0" y="4259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solidFill>
                <a:schemeClr val="tx2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A69B918-75E0-C5D3-6E79-A7B48C0B8E47}"/>
                </a:ext>
              </a:extLst>
            </p:cNvPr>
            <p:cNvSpPr/>
            <p:nvPr/>
          </p:nvSpPr>
          <p:spPr>
            <a:xfrm>
              <a:off x="7368759" y="5002757"/>
              <a:ext cx="35569" cy="35569"/>
            </a:xfrm>
            <a:custGeom>
              <a:avLst/>
              <a:gdLst>
                <a:gd name="csX0" fmla="*/ 1247 w 35569"/>
                <a:gd name="csY0" fmla="*/ 1247 h 35569"/>
                <a:gd name="csX1" fmla="*/ 1247 w 35569"/>
                <a:gd name="csY1" fmla="*/ 7269 h 35569"/>
                <a:gd name="csX2" fmla="*/ 28351 w 35569"/>
                <a:gd name="csY2" fmla="*/ 34374 h 35569"/>
                <a:gd name="csX3" fmla="*/ 34374 w 35569"/>
                <a:gd name="csY3" fmla="*/ 34269 h 35569"/>
                <a:gd name="csX4" fmla="*/ 34374 w 35569"/>
                <a:gd name="csY4" fmla="*/ 28351 h 35569"/>
                <a:gd name="csX5" fmla="*/ 7269 w 35569"/>
                <a:gd name="csY5" fmla="*/ 1247 h 35569"/>
                <a:gd name="csX6" fmla="*/ 1247 w 35569"/>
                <a:gd name="csY6" fmla="*/ 1247 h 355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569" h="35569">
                  <a:moveTo>
                    <a:pt x="1247" y="1247"/>
                  </a:moveTo>
                  <a:cubicBezTo>
                    <a:pt x="-416" y="2910"/>
                    <a:pt x="-416" y="5606"/>
                    <a:pt x="1247" y="7269"/>
                  </a:cubicBezTo>
                  <a:lnTo>
                    <a:pt x="28351" y="34374"/>
                  </a:lnTo>
                  <a:cubicBezTo>
                    <a:pt x="30044" y="36008"/>
                    <a:pt x="32740" y="35961"/>
                    <a:pt x="34374" y="34269"/>
                  </a:cubicBezTo>
                  <a:cubicBezTo>
                    <a:pt x="35968" y="32619"/>
                    <a:pt x="35968" y="30002"/>
                    <a:pt x="34374" y="28351"/>
                  </a:cubicBezTo>
                  <a:lnTo>
                    <a:pt x="7269" y="1247"/>
                  </a:lnTo>
                  <a:cubicBezTo>
                    <a:pt x="5606" y="-416"/>
                    <a:pt x="2910" y="-416"/>
                    <a:pt x="1247" y="1247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solidFill>
                <a:schemeClr val="tx2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FDB44D6-887C-6F48-0F21-5A264F38ED77}"/>
                </a:ext>
              </a:extLst>
            </p:cNvPr>
            <p:cNvSpPr/>
            <p:nvPr/>
          </p:nvSpPr>
          <p:spPr>
            <a:xfrm>
              <a:off x="7576504" y="5210502"/>
              <a:ext cx="35622" cy="35622"/>
            </a:xfrm>
            <a:custGeom>
              <a:avLst/>
              <a:gdLst>
                <a:gd name="csX0" fmla="*/ 28405 w 35622"/>
                <a:gd name="csY0" fmla="*/ 34427 h 35622"/>
                <a:gd name="csX1" fmla="*/ 34427 w 35622"/>
                <a:gd name="csY1" fmla="*/ 34322 h 35622"/>
                <a:gd name="csX2" fmla="*/ 34427 w 35622"/>
                <a:gd name="csY2" fmla="*/ 28405 h 35622"/>
                <a:gd name="csX3" fmla="*/ 7323 w 35622"/>
                <a:gd name="csY3" fmla="*/ 1300 h 35622"/>
                <a:gd name="csX4" fmla="*/ 1300 w 35622"/>
                <a:gd name="csY4" fmla="*/ 1196 h 35622"/>
                <a:gd name="csX5" fmla="*/ 1196 w 35622"/>
                <a:gd name="csY5" fmla="*/ 7218 h 35622"/>
                <a:gd name="csX6" fmla="*/ 1300 w 35622"/>
                <a:gd name="csY6" fmla="*/ 7323 h 35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622" h="35622">
                  <a:moveTo>
                    <a:pt x="28405" y="34427"/>
                  </a:moveTo>
                  <a:cubicBezTo>
                    <a:pt x="30097" y="36061"/>
                    <a:pt x="32793" y="36014"/>
                    <a:pt x="34427" y="34322"/>
                  </a:cubicBezTo>
                  <a:cubicBezTo>
                    <a:pt x="36021" y="32672"/>
                    <a:pt x="36021" y="30055"/>
                    <a:pt x="34427" y="28405"/>
                  </a:cubicBezTo>
                  <a:lnTo>
                    <a:pt x="7323" y="1300"/>
                  </a:lnTo>
                  <a:cubicBezTo>
                    <a:pt x="5688" y="-392"/>
                    <a:pt x="2992" y="-439"/>
                    <a:pt x="1300" y="1196"/>
                  </a:cubicBezTo>
                  <a:cubicBezTo>
                    <a:pt x="-392" y="2830"/>
                    <a:pt x="-439" y="5526"/>
                    <a:pt x="1196" y="7218"/>
                  </a:cubicBezTo>
                  <a:cubicBezTo>
                    <a:pt x="1230" y="7254"/>
                    <a:pt x="1265" y="7288"/>
                    <a:pt x="1300" y="7323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solidFill>
                <a:schemeClr val="tx2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8309AA7-FFC9-D164-A0A1-1C5791CB2D93}"/>
                </a:ext>
              </a:extLst>
            </p:cNvPr>
            <p:cNvSpPr/>
            <p:nvPr/>
          </p:nvSpPr>
          <p:spPr>
            <a:xfrm>
              <a:off x="7576504" y="5002757"/>
              <a:ext cx="35674" cy="35674"/>
            </a:xfrm>
            <a:custGeom>
              <a:avLst/>
              <a:gdLst>
                <a:gd name="csX0" fmla="*/ 34427 w 35674"/>
                <a:gd name="csY0" fmla="*/ 1247 h 35674"/>
                <a:gd name="csX1" fmla="*/ 28405 w 35674"/>
                <a:gd name="csY1" fmla="*/ 1247 h 35674"/>
                <a:gd name="csX2" fmla="*/ 1300 w 35674"/>
                <a:gd name="csY2" fmla="*/ 28351 h 35674"/>
                <a:gd name="csX3" fmla="*/ 1196 w 35674"/>
                <a:gd name="csY3" fmla="*/ 34374 h 35674"/>
                <a:gd name="csX4" fmla="*/ 7218 w 35674"/>
                <a:gd name="csY4" fmla="*/ 34478 h 35674"/>
                <a:gd name="csX5" fmla="*/ 7323 w 35674"/>
                <a:gd name="csY5" fmla="*/ 34374 h 35674"/>
                <a:gd name="csX6" fmla="*/ 34427 w 35674"/>
                <a:gd name="csY6" fmla="*/ 7269 h 35674"/>
                <a:gd name="csX7" fmla="*/ 34427 w 35674"/>
                <a:gd name="csY7" fmla="*/ 1247 h 356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5674" h="35674">
                  <a:moveTo>
                    <a:pt x="34427" y="1247"/>
                  </a:moveTo>
                  <a:cubicBezTo>
                    <a:pt x="32764" y="-416"/>
                    <a:pt x="30068" y="-416"/>
                    <a:pt x="28405" y="1247"/>
                  </a:cubicBezTo>
                  <a:lnTo>
                    <a:pt x="1300" y="28351"/>
                  </a:lnTo>
                  <a:cubicBezTo>
                    <a:pt x="-392" y="29986"/>
                    <a:pt x="-439" y="32682"/>
                    <a:pt x="1196" y="34374"/>
                  </a:cubicBezTo>
                  <a:cubicBezTo>
                    <a:pt x="2830" y="36066"/>
                    <a:pt x="5526" y="36113"/>
                    <a:pt x="7218" y="34478"/>
                  </a:cubicBezTo>
                  <a:cubicBezTo>
                    <a:pt x="7254" y="34444"/>
                    <a:pt x="7288" y="34409"/>
                    <a:pt x="7323" y="34374"/>
                  </a:cubicBezTo>
                  <a:lnTo>
                    <a:pt x="34427" y="7269"/>
                  </a:lnTo>
                  <a:cubicBezTo>
                    <a:pt x="36090" y="5606"/>
                    <a:pt x="36090" y="2910"/>
                    <a:pt x="34427" y="1247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solidFill>
                <a:schemeClr val="tx2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0C7ECA4-B6D2-1036-263A-651A16A6A11E}"/>
                </a:ext>
              </a:extLst>
            </p:cNvPr>
            <p:cNvSpPr/>
            <p:nvPr/>
          </p:nvSpPr>
          <p:spPr>
            <a:xfrm>
              <a:off x="7368759" y="5210502"/>
              <a:ext cx="35674" cy="35674"/>
            </a:xfrm>
            <a:custGeom>
              <a:avLst/>
              <a:gdLst>
                <a:gd name="csX0" fmla="*/ 4258 w 35674"/>
                <a:gd name="csY0" fmla="*/ 35675 h 35674"/>
                <a:gd name="csX1" fmla="*/ 7269 w 35674"/>
                <a:gd name="csY1" fmla="*/ 34427 h 35674"/>
                <a:gd name="csX2" fmla="*/ 34374 w 35674"/>
                <a:gd name="csY2" fmla="*/ 7323 h 35674"/>
                <a:gd name="csX3" fmla="*/ 34479 w 35674"/>
                <a:gd name="csY3" fmla="*/ 1300 h 35674"/>
                <a:gd name="csX4" fmla="*/ 28456 w 35674"/>
                <a:gd name="csY4" fmla="*/ 1196 h 35674"/>
                <a:gd name="csX5" fmla="*/ 28352 w 35674"/>
                <a:gd name="csY5" fmla="*/ 1300 h 35674"/>
                <a:gd name="csX6" fmla="*/ 1247 w 35674"/>
                <a:gd name="csY6" fmla="*/ 28405 h 35674"/>
                <a:gd name="csX7" fmla="*/ 1248 w 35674"/>
                <a:gd name="csY7" fmla="*/ 34428 h 35674"/>
                <a:gd name="csX8" fmla="*/ 4258 w 35674"/>
                <a:gd name="csY8" fmla="*/ 35675 h 356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5674" h="35674">
                  <a:moveTo>
                    <a:pt x="4258" y="35675"/>
                  </a:moveTo>
                  <a:cubicBezTo>
                    <a:pt x="5388" y="35675"/>
                    <a:pt x="6471" y="35226"/>
                    <a:pt x="7269" y="34427"/>
                  </a:cubicBezTo>
                  <a:lnTo>
                    <a:pt x="34374" y="7323"/>
                  </a:lnTo>
                  <a:cubicBezTo>
                    <a:pt x="36066" y="5688"/>
                    <a:pt x="36113" y="2992"/>
                    <a:pt x="34479" y="1300"/>
                  </a:cubicBezTo>
                  <a:cubicBezTo>
                    <a:pt x="32844" y="-392"/>
                    <a:pt x="30148" y="-439"/>
                    <a:pt x="28456" y="1196"/>
                  </a:cubicBezTo>
                  <a:cubicBezTo>
                    <a:pt x="28421" y="1230"/>
                    <a:pt x="28386" y="1265"/>
                    <a:pt x="28352" y="1300"/>
                  </a:cubicBezTo>
                  <a:lnTo>
                    <a:pt x="1247" y="28405"/>
                  </a:lnTo>
                  <a:cubicBezTo>
                    <a:pt x="-416" y="30068"/>
                    <a:pt x="-416" y="32765"/>
                    <a:pt x="1248" y="34428"/>
                  </a:cubicBezTo>
                  <a:cubicBezTo>
                    <a:pt x="2047" y="35226"/>
                    <a:pt x="3129" y="35675"/>
                    <a:pt x="4258" y="35675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solidFill>
                <a:schemeClr val="tx2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305F230-474C-8DDB-7080-D37096844571}"/>
              </a:ext>
            </a:extLst>
          </p:cNvPr>
          <p:cNvSpPr txBox="1"/>
          <p:nvPr/>
        </p:nvSpPr>
        <p:spPr>
          <a:xfrm>
            <a:off x="7620000" y="4859377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Hallazgo clave: </a:t>
            </a:r>
            <a:r>
              <a:rPr lang="es-ES" dirty="0"/>
              <a:t>El sueño es el principal driver para reducir estrés en este análisis</a:t>
            </a:r>
          </a:p>
        </p:txBody>
      </p:sp>
    </p:spTree>
    <p:extLst>
      <p:ext uri="{BB962C8B-B14F-4D97-AF65-F5344CB8AC3E}">
        <p14:creationId xmlns:p14="http://schemas.microsoft.com/office/powerpoint/2010/main" val="2253202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A3C5A"/>
                </a:solidFill>
                <a:latin typeface="Segoe UI"/>
              </a:rPr>
              <a:t>INSIGHTS Y RECOMENDACIONES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4251960" cy="348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2000" b="1" dirty="0">
                <a:solidFill>
                  <a:srgbClr val="1A3C5A"/>
                </a:solidFill>
                <a:latin typeface="Segoe UI"/>
              </a:rPr>
              <a:t>Insights</a:t>
            </a:r>
          </a:p>
          <a:p>
            <a:pPr marL="285750" indent="-28575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rgbClr val="555555"/>
                </a:solidFill>
                <a:latin typeface="Calibri"/>
              </a:defRPr>
            </a:pPr>
            <a:r>
              <a:rPr dirty="0" err="1"/>
              <a:t>Correlación</a:t>
            </a:r>
            <a:r>
              <a:rPr dirty="0"/>
              <a:t> </a:t>
            </a:r>
            <a:r>
              <a:rPr dirty="0" err="1"/>
              <a:t>fuerte</a:t>
            </a:r>
            <a:r>
              <a:rPr dirty="0"/>
              <a:t> </a:t>
            </a:r>
            <a:r>
              <a:rPr dirty="0" err="1"/>
              <a:t>negativa</a:t>
            </a:r>
            <a:r>
              <a:rPr dirty="0"/>
              <a:t> entre </a:t>
            </a:r>
            <a:r>
              <a:rPr dirty="0" err="1"/>
              <a:t>sueño</a:t>
            </a:r>
            <a:r>
              <a:rPr dirty="0"/>
              <a:t> y </a:t>
            </a:r>
            <a:r>
              <a:rPr dirty="0" err="1"/>
              <a:t>estrés</a:t>
            </a:r>
            <a:r>
              <a:rPr dirty="0"/>
              <a:t> (-0.81): </a:t>
            </a:r>
            <a:r>
              <a:rPr dirty="0" err="1"/>
              <a:t>más</a:t>
            </a:r>
            <a:r>
              <a:rPr dirty="0"/>
              <a:t> horas de </a:t>
            </a:r>
            <a:r>
              <a:rPr dirty="0" err="1"/>
              <a:t>sueño</a:t>
            </a:r>
            <a:r>
              <a:rPr dirty="0"/>
              <a:t> </a:t>
            </a:r>
            <a:r>
              <a:rPr dirty="0" err="1"/>
              <a:t>reducen</a:t>
            </a:r>
            <a:r>
              <a:rPr dirty="0"/>
              <a:t> </a:t>
            </a:r>
            <a:r>
              <a:rPr dirty="0" err="1"/>
              <a:t>significativamente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estrés</a:t>
            </a:r>
            <a:endParaRPr dirty="0"/>
          </a:p>
          <a:p>
            <a:pPr marL="285750" indent="-28575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rgbClr val="555555"/>
                </a:solidFill>
                <a:latin typeface="Calibri"/>
              </a:defRPr>
            </a:pPr>
            <a:r>
              <a:rPr dirty="0" err="1"/>
              <a:t>Actividad</a:t>
            </a:r>
            <a:r>
              <a:rPr dirty="0"/>
              <a:t> </a:t>
            </a:r>
            <a:r>
              <a:rPr dirty="0" err="1"/>
              <a:t>física</a:t>
            </a:r>
            <a:r>
              <a:rPr dirty="0"/>
              <a:t> regular </a:t>
            </a:r>
            <a:r>
              <a:rPr dirty="0" err="1"/>
              <a:t>mejora</a:t>
            </a:r>
            <a:r>
              <a:rPr dirty="0"/>
              <a:t> la </a:t>
            </a:r>
            <a:r>
              <a:rPr dirty="0" err="1"/>
              <a:t>calidad</a:t>
            </a:r>
            <a:r>
              <a:rPr dirty="0"/>
              <a:t> del </a:t>
            </a:r>
            <a:r>
              <a:rPr dirty="0" err="1"/>
              <a:t>sueño</a:t>
            </a:r>
            <a:r>
              <a:rPr dirty="0"/>
              <a:t> (100% </a:t>
            </a:r>
            <a:r>
              <a:rPr dirty="0" err="1"/>
              <a:t>cumplimiento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dataset)</a:t>
            </a:r>
          </a:p>
          <a:p>
            <a:pPr marL="285750" indent="-28575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rgbClr val="555555"/>
                </a:solidFill>
                <a:latin typeface="Calibri"/>
              </a:defRPr>
            </a:pPr>
            <a:r>
              <a:rPr dirty="0"/>
              <a:t>No se </a:t>
            </a:r>
            <a:r>
              <a:rPr dirty="0" err="1"/>
              <a:t>observan</a:t>
            </a:r>
            <a:r>
              <a:rPr dirty="0"/>
              <a:t> </a:t>
            </a:r>
            <a:r>
              <a:rPr dirty="0" err="1"/>
              <a:t>diferencias</a:t>
            </a:r>
            <a:r>
              <a:rPr dirty="0"/>
              <a:t> </a:t>
            </a:r>
            <a:r>
              <a:rPr dirty="0" err="1"/>
              <a:t>negativas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género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edad</a:t>
            </a:r>
            <a:r>
              <a:rPr dirty="0"/>
              <a:t> (</a:t>
            </a:r>
            <a:r>
              <a:rPr dirty="0" err="1"/>
              <a:t>patrón</a:t>
            </a:r>
            <a:r>
              <a:rPr dirty="0"/>
              <a:t> </a:t>
            </a:r>
            <a:r>
              <a:rPr dirty="0" err="1"/>
              <a:t>opuesto</a:t>
            </a:r>
            <a:r>
              <a:rPr dirty="0"/>
              <a:t> al </a:t>
            </a:r>
            <a:r>
              <a:rPr dirty="0" err="1"/>
              <a:t>esperado</a:t>
            </a:r>
            <a:r>
              <a:rPr dirty="0"/>
              <a:t>)</a:t>
            </a:r>
          </a:p>
          <a:p>
            <a:pPr marL="285750" indent="-28575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rgbClr val="555555"/>
                </a:solidFill>
                <a:latin typeface="Calibri"/>
              </a:defRPr>
            </a:pPr>
            <a:r>
              <a:rPr dirty="0" err="1"/>
              <a:t>Contexto</a:t>
            </a:r>
            <a:r>
              <a:rPr dirty="0"/>
              <a:t> global OMS 2024: 31.3% de </a:t>
            </a:r>
            <a:r>
              <a:rPr dirty="0" err="1"/>
              <a:t>adultos</a:t>
            </a:r>
            <a:r>
              <a:rPr dirty="0"/>
              <a:t> </a:t>
            </a:r>
            <a:r>
              <a:rPr dirty="0" err="1"/>
              <a:t>insuficientemente</a:t>
            </a:r>
            <a:r>
              <a:rPr dirty="0"/>
              <a:t> </a:t>
            </a:r>
            <a:r>
              <a:rPr dirty="0" err="1"/>
              <a:t>activos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446520" y="1417320"/>
            <a:ext cx="4800600" cy="2995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dirty="0" err="1">
                <a:solidFill>
                  <a:srgbClr val="1A3C5A"/>
                </a:solidFill>
                <a:latin typeface="Segoe UI"/>
              </a:rPr>
              <a:t>Recomendaciones</a:t>
            </a:r>
            <a:endParaRPr sz="2000" b="1" dirty="0">
              <a:solidFill>
                <a:srgbClr val="1A3C5A"/>
              </a:solidFill>
              <a:latin typeface="Segoe UI"/>
            </a:endParaRPr>
          </a:p>
          <a:p>
            <a:pPr marL="284400" indent="-2844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rgbClr val="555555"/>
                </a:solidFill>
                <a:latin typeface="Calibri"/>
              </a:defRPr>
            </a:pPr>
            <a:r>
              <a:rPr dirty="0" err="1"/>
              <a:t>Priorizar</a:t>
            </a:r>
            <a:r>
              <a:rPr dirty="0"/>
              <a:t> 7–9 horas de </a:t>
            </a:r>
            <a:r>
              <a:rPr dirty="0" err="1"/>
              <a:t>sueño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horarios</a:t>
            </a:r>
            <a:r>
              <a:rPr dirty="0"/>
              <a:t> </a:t>
            </a:r>
            <a:r>
              <a:rPr dirty="0" err="1"/>
              <a:t>consistentes</a:t>
            </a:r>
            <a:endParaRPr dirty="0"/>
          </a:p>
          <a:p>
            <a:pPr marL="284400" indent="-2844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rgbClr val="555555"/>
                </a:solidFill>
                <a:latin typeface="Calibri"/>
              </a:defRPr>
            </a:pPr>
            <a:r>
              <a:rPr dirty="0" err="1"/>
              <a:t>Mantener</a:t>
            </a:r>
            <a:r>
              <a:rPr dirty="0"/>
              <a:t> al </a:t>
            </a:r>
            <a:r>
              <a:rPr dirty="0" err="1"/>
              <a:t>menos</a:t>
            </a:r>
            <a:r>
              <a:rPr dirty="0"/>
              <a:t> 30 </a:t>
            </a:r>
            <a:r>
              <a:rPr dirty="0" err="1"/>
              <a:t>minutos</a:t>
            </a:r>
            <a:r>
              <a:rPr dirty="0"/>
              <a:t> de </a:t>
            </a:r>
            <a:r>
              <a:rPr dirty="0" err="1"/>
              <a:t>actividad</a:t>
            </a:r>
            <a:r>
              <a:rPr dirty="0"/>
              <a:t> </a:t>
            </a:r>
            <a:r>
              <a:rPr dirty="0" err="1"/>
              <a:t>física</a:t>
            </a:r>
            <a:r>
              <a:rPr dirty="0"/>
              <a:t> </a:t>
            </a:r>
            <a:r>
              <a:rPr dirty="0" err="1"/>
              <a:t>diaria</a:t>
            </a:r>
            <a:endParaRPr dirty="0"/>
          </a:p>
          <a:p>
            <a:pPr marL="284400" indent="-2844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rgbClr val="555555"/>
                </a:solidFill>
                <a:latin typeface="Calibri"/>
              </a:defRPr>
            </a:pPr>
            <a:r>
              <a:rPr dirty="0" err="1"/>
              <a:t>Evitar</a:t>
            </a:r>
            <a:r>
              <a:rPr dirty="0"/>
              <a:t> </a:t>
            </a:r>
            <a:r>
              <a:rPr dirty="0" err="1"/>
              <a:t>pantallas</a:t>
            </a:r>
            <a:r>
              <a:rPr dirty="0"/>
              <a:t> 1 hora antes de </a:t>
            </a:r>
            <a:r>
              <a:rPr dirty="0" err="1"/>
              <a:t>dormir</a:t>
            </a:r>
            <a:endParaRPr dirty="0"/>
          </a:p>
          <a:p>
            <a:pPr marL="284400" indent="-2844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rgbClr val="555555"/>
                </a:solidFill>
                <a:latin typeface="Calibri"/>
              </a:defRPr>
            </a:pPr>
            <a:r>
              <a:rPr dirty="0" err="1"/>
              <a:t>Implementar</a:t>
            </a:r>
            <a:r>
              <a:rPr dirty="0"/>
              <a:t> </a:t>
            </a:r>
            <a:r>
              <a:rPr dirty="0" err="1"/>
              <a:t>técnicas</a:t>
            </a:r>
            <a:r>
              <a:rPr dirty="0"/>
              <a:t> de </a:t>
            </a:r>
            <a:r>
              <a:rPr dirty="0" err="1"/>
              <a:t>relajación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estrés</a:t>
            </a:r>
            <a:r>
              <a:rPr dirty="0"/>
              <a:t> </a:t>
            </a:r>
            <a:r>
              <a:rPr dirty="0" err="1"/>
              <a:t>afecta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descanso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9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Calibri"/>
              </a:rPr>
              <a:t>Data Science | Coderhouse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  <a:latin typeface="Calibri"/>
              </a:rPr>
              <a:t>10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3D87B6-59E1-D8E2-107E-E87E73041D29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82791" y="2505670"/>
            <a:ext cx="5226111" cy="92333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AR" sz="5400" b="1" dirty="0">
                <a:solidFill>
                  <a:srgbClr val="1A3C5A"/>
                </a:solidFill>
                <a:latin typeface="Segoe UI"/>
              </a:rPr>
              <a:t>Muchas Gracias</a:t>
            </a:r>
            <a:endParaRPr sz="5400" b="1" dirty="0">
              <a:solidFill>
                <a:srgbClr val="1A3C5A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50749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3C5A"/>
                </a:solidFill>
                <a:latin typeface="Segoe UI"/>
              </a:rPr>
              <a:t>Fuentes</a:t>
            </a:r>
          </a:p>
          <a:p>
            <a:pPr>
              <a:defRPr sz="1400">
                <a:solidFill>
                  <a:srgbClr val="555555"/>
                </a:solidFill>
                <a:latin typeface="Calibri"/>
              </a:defRPr>
            </a:pPr>
            <a:r>
              <a:t>Kaggle: Lifestyle and Sleep Patterns (dataset público)</a:t>
            </a:r>
          </a:p>
          <a:p>
            <a:pPr>
              <a:defRPr sz="1400">
                <a:solidFill>
                  <a:srgbClr val="555555"/>
                </a:solidFill>
                <a:latin typeface="Calibri"/>
              </a:defRPr>
            </a:pPr>
            <a:r>
              <a:t>OMS/WHO: Insufficient physical activity (publicación 2024)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607040" cy="9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Calibri"/>
              </a:rPr>
              <a:t>Data Science | Coderhouse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  <a:latin typeface="Calibri"/>
              </a:rPr>
              <a:t>11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55684A-7420-69BB-3CA9-705AE73A1447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695</Words>
  <Application>Microsoft Office PowerPoint</Application>
  <PresentationFormat>Widescreen</PresentationFormat>
  <Paragraphs>103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Guada Bianchi</cp:lastModifiedBy>
  <cp:revision>3</cp:revision>
  <dcterms:created xsi:type="dcterms:W3CDTF">2013-01-27T09:14:16Z</dcterms:created>
  <dcterms:modified xsi:type="dcterms:W3CDTF">2026-03-03T00:07:53Z</dcterms:modified>
  <cp:category/>
</cp:coreProperties>
</file>